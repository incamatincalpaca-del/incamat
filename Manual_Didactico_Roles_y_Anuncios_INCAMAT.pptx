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1393ea0f904742" /><Relationship Type="http://schemas.openxmlformats.org/officeDocument/2006/relationships/extended-properties" Target="/docProps/app.xml" Id="R94f3fb9b5ca7481b" /><Relationship Type="http://schemas.openxmlformats.org/officeDocument/2006/relationships/officeDocument" Target="/ppt/presentation.xml" Id="Rf799b0ce285d4e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fad043e6f44627"/>
  </p:sldMasterIdLst>
  <p:notesMasterIdLst>
    <p:notesMasterId xmlns:r="http://schemas.openxmlformats.org/officeDocument/2006/relationships" r:id="R410fa628a0d04db1"/>
  </p:notesMasterIdLst>
  <p:sldIdLst>
    <p:sldId xmlns:r="http://schemas.openxmlformats.org/officeDocument/2006/relationships" id="256" r:id="R01c5ce7a3b4b447b"/>
    <p:sldId xmlns:r="http://schemas.openxmlformats.org/officeDocument/2006/relationships" id="257" r:id="R98b54e646b374b7f"/>
    <p:sldId xmlns:r="http://schemas.openxmlformats.org/officeDocument/2006/relationships" id="258" r:id="Rf0553643976c458f"/>
    <p:sldId xmlns:r="http://schemas.openxmlformats.org/officeDocument/2006/relationships" id="259" r:id="R4a84483fc715463c"/>
    <p:sldId xmlns:r="http://schemas.openxmlformats.org/officeDocument/2006/relationships" id="260" r:id="Rad9ff380e5714f55"/>
    <p:sldId xmlns:r="http://schemas.openxmlformats.org/officeDocument/2006/relationships" id="261" r:id="Rf1fc5ff3fe084959"/>
    <p:sldId xmlns:r="http://schemas.openxmlformats.org/officeDocument/2006/relationships" id="262" r:id="R1680231b3bc64404"/>
    <p:sldId xmlns:r="http://schemas.openxmlformats.org/officeDocument/2006/relationships" id="263" r:id="Rfb997babbffb4f73"/>
    <p:sldId xmlns:r="http://schemas.openxmlformats.org/officeDocument/2006/relationships" id="264" r:id="Rc1e0edfacd544727"/>
    <p:sldId xmlns:r="http://schemas.openxmlformats.org/officeDocument/2006/relationships" id="265" r:id="R42274d03a0cd4d8e"/>
    <p:sldId xmlns:r="http://schemas.openxmlformats.org/officeDocument/2006/relationships" id="266" r:id="R3b002aa34fcd41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22d328e19440f4" /><Relationship Type="http://schemas.openxmlformats.org/officeDocument/2006/relationships/slideMaster" Target="/ppt/slideMasters/slideMaster1.xml" Id="R7bfad043e6f44627" /><Relationship Type="http://schemas.openxmlformats.org/officeDocument/2006/relationships/notesMaster" Target="/ppt/notesMasters/notesMaster1.xml" Id="R410fa628a0d04db1" /><Relationship Type="http://schemas.openxmlformats.org/officeDocument/2006/relationships/presProps" Target="/ppt/presProps.xml" Id="R413733a131eb43c9" /><Relationship Type="http://schemas.openxmlformats.org/officeDocument/2006/relationships/tableStyles" Target="/ppt/tableStyles.xml" Id="R171b9098fab44913" /><Relationship Type="http://schemas.openxmlformats.org/officeDocument/2006/relationships/slide" Target="/ppt/slides/slide1.xml" Id="R01c5ce7a3b4b447b" /><Relationship Type="http://schemas.openxmlformats.org/officeDocument/2006/relationships/slide" Target="/ppt/slides/slide2.xml" Id="R98b54e646b374b7f" /><Relationship Type="http://schemas.openxmlformats.org/officeDocument/2006/relationships/slide" Target="/ppt/slides/slide3.xml" Id="Rf0553643976c458f" /><Relationship Type="http://schemas.openxmlformats.org/officeDocument/2006/relationships/slide" Target="/ppt/slides/slide4.xml" Id="R4a84483fc715463c" /><Relationship Type="http://schemas.openxmlformats.org/officeDocument/2006/relationships/slide" Target="/ppt/slides/slide5.xml" Id="Rad9ff380e5714f55" /><Relationship Type="http://schemas.openxmlformats.org/officeDocument/2006/relationships/slide" Target="/ppt/slides/slide6.xml" Id="Rf1fc5ff3fe084959" /><Relationship Type="http://schemas.openxmlformats.org/officeDocument/2006/relationships/slide" Target="/ppt/slides/slide7.xml" Id="R1680231b3bc64404" /><Relationship Type="http://schemas.openxmlformats.org/officeDocument/2006/relationships/slide" Target="/ppt/slides/slide8.xml" Id="Rfb997babbffb4f73" /><Relationship Type="http://schemas.openxmlformats.org/officeDocument/2006/relationships/slide" Target="/ppt/slides/slide9.xml" Id="Rc1e0edfacd544727" /><Relationship Type="http://schemas.openxmlformats.org/officeDocument/2006/relationships/slide" Target="/ppt/slides/slide10.xml" Id="R42274d03a0cd4d8e" /><Relationship Type="http://schemas.openxmlformats.org/officeDocument/2006/relationships/slide" Target="/ppt/slides/slide11.xml" Id="R3b002aa34fcd41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5cee1d580043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5f160868984730" /><Relationship Type="http://schemas.openxmlformats.org/officeDocument/2006/relationships/notesMaster" Target="/ppt/notesMasters/notesMaster1.xml" Id="R0413d77bc75149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81e81ff84247d7" /><Relationship Type="http://schemas.openxmlformats.org/officeDocument/2006/relationships/notesMaster" Target="/ppt/notesMasters/notesMaster1.xml" Id="R9109fe5e50c649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f4400bf06d48c3" /><Relationship Type="http://schemas.openxmlformats.org/officeDocument/2006/relationships/notesMaster" Target="/ppt/notesMasters/notesMaster1.xml" Id="R892737931c6d44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0878d9a2eb407b" /><Relationship Type="http://schemas.openxmlformats.org/officeDocument/2006/relationships/notesMaster" Target="/ppt/notesMasters/notesMaster1.xml" Id="R96ee3b6d11604b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5faa210eba4d7c" /><Relationship Type="http://schemas.openxmlformats.org/officeDocument/2006/relationships/notesMaster" Target="/ppt/notesMasters/notesMaster1.xml" Id="Rfcbe812fb9024b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2a5f16f0fc408c" /><Relationship Type="http://schemas.openxmlformats.org/officeDocument/2006/relationships/notesMaster" Target="/ppt/notesMasters/notesMaster1.xml" Id="Rf3473c5eecf846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926e76e18a48d3" /><Relationship Type="http://schemas.openxmlformats.org/officeDocument/2006/relationships/notesMaster" Target="/ppt/notesMasters/notesMaster1.xml" Id="R72e510fe694e40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5bc79dba2e4daf" /><Relationship Type="http://schemas.openxmlformats.org/officeDocument/2006/relationships/notesMaster" Target="/ppt/notesMasters/notesMaster1.xml" Id="R5a0732d448b14a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406341e4b64678" /><Relationship Type="http://schemas.openxmlformats.org/officeDocument/2006/relationships/notesMaster" Target="/ppt/notesMasters/notesMaster1.xml" Id="R0cdb3f6de44b44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df25d37eb04a04" /><Relationship Type="http://schemas.openxmlformats.org/officeDocument/2006/relationships/notesMaster" Target="/ppt/notesMasters/notesMaster1.xml" Id="Rb55ec4e2171940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c44a0f517c4f1a" /><Relationship Type="http://schemas.openxmlformats.org/officeDocument/2006/relationships/notesMaster" Target="/ppt/notesMasters/notesMaster1.xml" Id="R615aff6cd1054a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30e8a1a9845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42bac0313d45b4" /><Relationship Type="http://schemas.openxmlformats.org/officeDocument/2006/relationships/slideLayout" Target="/ppt/slideLayouts/slideLayout1.xml" Id="R3901c65b74734b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01c65b74734b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cb5bb8ad548f9" /><Relationship Type="http://schemas.openxmlformats.org/officeDocument/2006/relationships/notesSlide" Target="/ppt/notesSlides/notesSlide1.xml" Id="R7cc96be8428148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24d64154b427c" /><Relationship Type="http://schemas.openxmlformats.org/officeDocument/2006/relationships/notesSlide" Target="/ppt/notesSlides/notesSlide2.xml" Id="Raf56a64f8cff48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e1cdf789842bf" /><Relationship Type="http://schemas.openxmlformats.org/officeDocument/2006/relationships/notesSlide" Target="/ppt/notesSlides/notesSlide3.xml" Id="R51417951a50b46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a2e2688764346" /><Relationship Type="http://schemas.openxmlformats.org/officeDocument/2006/relationships/notesSlide" Target="/ppt/notesSlides/notesSlide4.xml" Id="R88ee5c3d51a040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6dd6498c747ae" /><Relationship Type="http://schemas.openxmlformats.org/officeDocument/2006/relationships/notesSlide" Target="/ppt/notesSlides/notesSlide5.xml" Id="Rb4fe7657285943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f23f43537412a" /><Relationship Type="http://schemas.openxmlformats.org/officeDocument/2006/relationships/notesSlide" Target="/ppt/notesSlides/notesSlide6.xml" Id="Re37b6ff37de949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9b01b163845cf" /><Relationship Type="http://schemas.openxmlformats.org/officeDocument/2006/relationships/notesSlide" Target="/ppt/notesSlides/notesSlide7.xml" Id="Rbe3c6767e38140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511fc5d5e4a8f" /><Relationship Type="http://schemas.openxmlformats.org/officeDocument/2006/relationships/notesSlide" Target="/ppt/notesSlides/notesSlide8.xml" Id="Ra5ad7396331947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92b084041450d" /><Relationship Type="http://schemas.openxmlformats.org/officeDocument/2006/relationships/notesSlide" Target="/ppt/notesSlides/notesSlide9.xml" Id="R048fddfdcd6f44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a05875bc043f3" /><Relationship Type="http://schemas.openxmlformats.org/officeDocument/2006/relationships/notesSlide" Target="/ppt/notesSlides/notesSlide10.xml" Id="R1cf886a2caf74e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2fe080bfc43d1" /><Relationship Type="http://schemas.openxmlformats.org/officeDocument/2006/relationships/notesSlide" Target="/ppt/notesSlides/notesSlide11.xml" Id="Rab279e3806e043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D0740-BD1F-47A1-A304-01532E40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5867400"/>
          </a:xfrm>
          <a:prstGeom xmlns:a="http://schemas.openxmlformats.org/drawingml/2006/main" prst="roundRect">
            <a:avLst>
              <a:gd name="adj" fmla="val 19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C3F65-B7AE-4557-AEA9-6CA2A5FC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286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E904B-5594-4964-9C3C-627CBA7F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7635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2545"/>
                </a:solidFill>
              </a:defRPr>
            </a:pPr>
            <a:r>
              <a:rPr sz="4350" b="1">
                <a:solidFill>
                  <a:srgbClr val="0B2545"/>
                </a:solidFill>
              </a:rPr>
              <a:t>INCAMAT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A0A91-EAE8-4018-8DCC-81E12661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716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87C9"/>
                </a:solidFill>
              </a:defRPr>
            </a:pPr>
            <a:r>
              <a:rPr sz="2400" b="1">
                <a:solidFill>
                  <a:srgbClr val="1487C9"/>
                </a:solidFill>
              </a:rPr>
              <a:t>Manual didáctico por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B2150-528D-4FE9-9655-1C0CA4DC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45B"/>
                </a:solidFill>
              </a:defRPr>
            </a:pPr>
            <a:r>
              <a:rPr sz="1575" b="1">
                <a:solidFill>
                  <a:srgbClr val="16345B"/>
                </a:solidFill>
              </a:rPr>
              <a:t>Operario  ·  Técnico  ·  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68997-0F1E-48A0-A19F-0F8081E6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71825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EF59E-7C9D-4D27-8ADB-8731A83C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76625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48E"/>
                </a:solidFill>
              </a:defRPr>
            </a:pPr>
            <a:r>
              <a:rPr sz="1650" b="0">
                <a:solidFill>
                  <a:srgbClr val="60748E"/>
                </a:solidFill>
              </a:rPr>
              <a:t>Una guía visual para reportar, atender, comunicar y controlar el mantenimiento.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F8BAA-033E-43A6-976D-DA895B8D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81125"/>
            <a:ext cx="2990850" cy="31432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E7F6FF"/>
          </a:solidFill>
          <a:ln xmlns:a="http://schemas.openxmlformats.org/drawingml/2006/main" w="9525">
            <a:solidFill>
              <a:srgbClr val="E7F6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02478-2AEB-41BB-ABC2-0AB78311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47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74F"/>
          </a:solidFill>
          <a:ln xmlns:a="http://schemas.openxmlformats.org/drawingml/2006/main" w="9525">
            <a:solidFill>
              <a:srgbClr val="D75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22565-8E22-451E-8FF2-7D6A6112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907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5CDDD-D801-478B-AE20-6F8AF86B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545"/>
                </a:solidFill>
              </a:defRPr>
            </a:pPr>
            <a:r>
              <a:rPr sz="2400" b="1">
                <a:solidFill>
                  <a:srgbClr val="0B2545"/>
                </a:solidFill>
              </a:rPr>
              <a:t>Panel de</a:t>
            </a:r>
          </a:p>
          <a:p xmlns:a="http://schemas.openxmlformats.org/drawingml/2006/main">
            <a:pPr algn="ctr">
              <a:defRPr sz="2400" b="1">
                <a:solidFill>
                  <a:srgbClr val="0B2545"/>
                </a:solidFill>
              </a:defRPr>
            </a:pPr>
            <a:r>
              <a:rPr sz="2400" b="1">
                <a:solidFill>
                  <a:srgbClr val="0B2545"/>
                </a:solidFill>
              </a:rPr>
              <a:t>anuncios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6B3D2-8A0E-49CF-A770-F4A41942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9092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48E"/>
                </a:solidFill>
              </a:defRPr>
            </a:pPr>
            <a:r>
              <a:rPr sz="1350" b="0">
                <a:solidFill>
                  <a:srgbClr val="60748E"/>
                </a:solidFill>
              </a:rPr>
              <a:t>Avisos correctos</a:t>
            </a:r>
          </a:p>
          <a:p xmlns:a="http://schemas.openxmlformats.org/drawingml/2006/main">
            <a:pPr algn="ctr">
              <a:defRPr sz="1350" b="0">
                <a:solidFill>
                  <a:srgbClr val="60748E"/>
                </a:solidFill>
              </a:defRPr>
            </a:pPr>
            <a:r>
              <a:rPr sz="1350" b="0">
                <a:solidFill>
                  <a:srgbClr val="60748E"/>
                </a:solidFill>
              </a:rPr>
              <a:t>para cada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E2EE5-4FFA-4A6C-A6BF-975AE3F5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959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48E"/>
                </a:solidFill>
              </a:defRPr>
            </a:pPr>
            <a:r>
              <a:rPr sz="1125" b="1">
                <a:solidFill>
                  <a:srgbClr val="60748E"/>
                </a:solidFill>
              </a:rPr>
              <a:t>Planta Incalpaca TPX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89B04-364C-49A6-8D59-AC238952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INCAMAT  |  Manual didáctico de uso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76ADD-135B-4647-A50F-96F2192C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7525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2EF0D7-570F-4015-96ED-FAD43B34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7C9"/>
                </a:solidFill>
              </a:defRPr>
            </a:pPr>
            <a:r>
              <a:rPr sz="900" b="1">
                <a:solidFill>
                  <a:srgbClr val="1487C9"/>
                </a:solidFill>
              </a:rPr>
              <a:t>VISTA GENERAL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7B99B-24D7-440F-A326-CF1C517E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INCAMAT conecta la operación completa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1D2B3-F4BB-4211-BB4C-966974B2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E"/>
                </a:solidFill>
              </a:defRPr>
            </a:pPr>
            <a:r>
              <a:rPr sz="1350" b="0">
                <a:solidFill>
                  <a:srgbClr val="60748E"/>
                </a:solidFill>
              </a:rPr>
              <a:t>Cada registro mantiene el vínculo entre el área, la máquina, el mantenimiento y los repuestos.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63701-D414-4C26-9771-FBFAD885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A7422-72A1-44C7-AB31-D2CCA901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INCAMAT  |  Manual didáctico de 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5F86D-9129-4C8A-A94C-EFF39C84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57A4C-813C-4DFA-859D-2135E928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4574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F6016-20D8-4AFF-8952-5F9C103A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4A06A-16E6-4CF0-BEA9-65A94080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AB783-BB07-40F9-A844-2ABC4B54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Reportar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96D25-4638-491A-9043-3ECEC9F7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E"/>
                </a:solidFill>
              </a:defRPr>
            </a:pPr>
            <a:r>
              <a:rPr sz="1200" b="0">
                <a:solidFill>
                  <a:srgbClr val="60748E"/>
                </a:solidFill>
              </a:rPr>
              <a:t>Falla con detalle y evidencia.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A6990-DCA5-4BD2-8493-FD8E3607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76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7C9"/>
                </a:solidFill>
              </a:defRPr>
            </a:pPr>
            <a:r>
              <a:rPr sz="1800" b="1">
                <a:solidFill>
                  <a:srgbClr val="1487C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B77B3-1340-4738-B728-84B8A0A2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24574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EBA86-442E-44A5-AAFA-6BAD72BE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14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9768"/>
          </a:solidFill>
          <a:ln xmlns:a="http://schemas.openxmlformats.org/drawingml/2006/main" w="9525">
            <a:solidFill>
              <a:srgbClr val="2097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FE1FD-A3CC-47D4-B3A5-060BE481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31F44-8A39-4DE9-BBFB-20DE362E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48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Atender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B894F-72DA-453E-80A5-C5E0BC32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385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E"/>
                </a:solidFill>
              </a:defRPr>
            </a:pPr>
            <a:r>
              <a:rPr sz="1200" b="0">
                <a:solidFill>
                  <a:srgbClr val="60748E"/>
                </a:solidFill>
              </a:rPr>
              <a:t>Orden, hora y diagnóstico.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90924-DBB1-4B10-AC6B-4811C359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276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7C9"/>
                </a:solidFill>
              </a:defRPr>
            </a:pPr>
            <a:r>
              <a:rPr sz="1800" b="1">
                <a:solidFill>
                  <a:srgbClr val="1487C9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53165-CCE2-4A11-A3A5-C2CAFDD8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24574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13AA1-28BB-40F6-AF05-70363327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9614"/>
          </a:solidFill>
          <a:ln xmlns:a="http://schemas.openxmlformats.org/drawingml/2006/main" w="9525">
            <a:solidFill>
              <a:srgbClr val="DC96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B000C-F931-4B52-A9FD-799EB5BC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E11365-71B9-4B5A-BED9-59353C86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Abastecer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29679-C52F-4505-92D7-7EA26B65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385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E"/>
                </a:solidFill>
              </a:defRPr>
            </a:pPr>
            <a:r>
              <a:rPr sz="1200" b="0">
                <a:solidFill>
                  <a:srgbClr val="60748E"/>
                </a:solidFill>
              </a:rPr>
              <a:t>Solicitud y salida de repuesto.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DF6247-C973-4834-B12E-AE2E54B9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276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7C9"/>
                </a:solidFill>
              </a:defRPr>
            </a:pPr>
            <a:r>
              <a:rPr sz="1800" b="1">
                <a:solidFill>
                  <a:srgbClr val="1487C9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43C16-B556-4A24-8196-9A261A85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95550"/>
            <a:ext cx="24574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4519E-FA63-46E7-B9D9-8A2E7225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56B9"/>
          </a:solidFill>
          <a:ln xmlns:a="http://schemas.openxmlformats.org/drawingml/2006/main" w="9525">
            <a:solidFill>
              <a:srgbClr val="7556B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DEB985-95E5-4C50-925E-DCDFBD93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575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528469-5222-405D-A5D3-216C5A17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48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Analizar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B5C8FE-6905-43F6-9CA5-72E2E1D7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385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E"/>
                </a:solidFill>
              </a:defRPr>
            </a:pPr>
            <a:r>
              <a:rPr sz="1200" b="0">
                <a:solidFill>
                  <a:srgbClr val="60748E"/>
                </a:solidFill>
              </a:rPr>
              <a:t>Historial, KPIs y decisiones.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A0C6CA-3A02-4921-9777-21685D33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45B"/>
                </a:solidFill>
              </a:defRPr>
            </a:pPr>
            <a:r>
              <a:rPr sz="1500" b="1">
                <a:solidFill>
                  <a:srgbClr val="16345B"/>
                </a:solidFill>
              </a:rPr>
              <a:t>Todo lo que se registra puede ser consultado según permisos de usuario.</a:t>
            </a:r>
          </a:p>
        </p:txBody>
      </p:sp>
    </p:spTree>
    <p:extLst>
      <p:ext uri="{BB962C8B-B14F-4D97-AF65-F5344CB8AC3E}">
        <p14:creationId xmlns:p14="http://schemas.microsoft.com/office/powerpoint/2010/main" val="9242703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7EEE4-0D06-4951-9E96-5B42F23A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7C9"/>
                </a:solidFill>
              </a:defRPr>
            </a:pPr>
            <a:r>
              <a:rPr sz="900" b="1">
                <a:solidFill>
                  <a:srgbClr val="1487C9"/>
                </a:solidFill>
              </a:rPr>
              <a:t>PERMISOS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0FA48-2A0E-41C7-A6E7-9AB3F7F2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Cada rol ve lo que necesita para trabajar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15EBB-5848-4A68-ABD4-10F846E5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E"/>
                </a:solidFill>
              </a:defRPr>
            </a:pPr>
            <a:r>
              <a:rPr sz="1350" b="0">
                <a:solidFill>
                  <a:srgbClr val="60748E"/>
                </a:solidFill>
              </a:rPr>
              <a:t>La separación de accesos protege la información y mantiene el flujo simple.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D0656-5A42-4C51-9C24-A535FA6F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65617-4789-4688-82AB-D0BEE2CA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INCAMAT  |  Manual didáctico de 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4CC53-6C2C-4DF4-BA1B-F4D061FF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55FA0-0E92-45C0-94DE-C10FCCE7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333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F4DAC-B8F5-4B5E-8387-94851B27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384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84B19-BE84-4F3F-9007-22466059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95699-B0B3-40A3-BC44-3707ACB8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Operario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62863-BDE8-45D7-B74B-C6B26D9F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E"/>
                </a:solidFill>
              </a:defRPr>
            </a:pPr>
            <a:r>
              <a:rPr sz="1275" b="0">
                <a:solidFill>
                  <a:srgbClr val="60748E"/>
                </a:solidFill>
              </a:rPr>
              <a:t>Reportar planta y consultar anuncios asignados.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9FB5B-677A-4157-9CE4-B88E6E65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3333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33FF4-CE28-4194-B4B1-405A6236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384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9768"/>
          </a:solidFill>
          <a:ln xmlns:a="http://schemas.openxmlformats.org/drawingml/2006/main" w="9525">
            <a:solidFill>
              <a:srgbClr val="2097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6E1C1-D790-4A2C-A145-A0B6CF9C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40097-5513-461E-9797-BCE3C527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Técnico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F99FD-1C21-418F-A088-EED3E18F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052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E"/>
                </a:solidFill>
              </a:defRPr>
            </a:pPr>
            <a:r>
              <a:rPr sz="1275" b="0">
                <a:solidFill>
                  <a:srgbClr val="60748E"/>
                </a:solidFill>
              </a:rPr>
              <a:t>Atender órdenes, consultar activos, solicitar repuestos y ver anuncios.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7EB51-73F4-4E9D-B007-E473B159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3333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E793C-B500-48BC-A053-8DA52A6E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384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56B9"/>
          </a:solidFill>
          <a:ln xmlns:a="http://schemas.openxmlformats.org/drawingml/2006/main" w="9525">
            <a:solidFill>
              <a:srgbClr val="7556B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7CA60-4F10-4A69-9AC8-E0AE6335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11651-5703-4DF6-AD3C-BD17D950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Administrador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DB45D-0504-4293-98FF-71413091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E"/>
                </a:solidFill>
              </a:defRPr>
            </a:pPr>
            <a:r>
              <a:rPr sz="1275" b="0">
                <a:solidFill>
                  <a:srgbClr val="60748E"/>
                </a:solidFill>
              </a:rPr>
              <a:t>Gestionar catálogos, usuarios, importaciones y anuncios.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51B9A-38A7-4883-825A-82A5DB39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45B"/>
                </a:solidFill>
              </a:defRPr>
            </a:pPr>
            <a:r>
              <a:rPr sz="1425" b="1">
                <a:solidFill>
                  <a:srgbClr val="16345B"/>
                </a:solidFill>
              </a:rPr>
              <a:t>El administrador define el alcance; el sistema muestra a cada persona solo lo que le corresponde.</a:t>
            </a:r>
          </a:p>
        </p:txBody>
      </p:sp>
    </p:spTree>
    <p:extLst>
      <p:ext uri="{BB962C8B-B14F-4D97-AF65-F5344CB8AC3E}">
        <p14:creationId xmlns:p14="http://schemas.microsoft.com/office/powerpoint/2010/main" val="13505305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EAE33C-9012-4762-94FA-1B8FF024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7C9"/>
                </a:solidFill>
              </a:defRPr>
            </a:pPr>
            <a:r>
              <a:rPr sz="900" b="1">
                <a:solidFill>
                  <a:srgbClr val="1487C9"/>
                </a:solidFill>
              </a:rPr>
              <a:t>OPERARIO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D0703-2E6F-4D8C-8FB1-E5A822AB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El operario reporta, evidencia y se informa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9E782-D747-4C79-AED2-03EE48F5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E"/>
                </a:solidFill>
              </a:defRPr>
            </a:pPr>
            <a:r>
              <a:rPr sz="1350" b="0">
                <a:solidFill>
                  <a:srgbClr val="60748E"/>
                </a:solidFill>
              </a:rPr>
              <a:t>Su objetivo es comunicar una incidencia correctamente desde planta.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46266-4EA8-4398-8114-1FE423B2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EB301-C76B-4459-9C72-9415231F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INCAMAT  |  Manual didáctico de 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6262C-8283-42A2-9BA2-95B3B023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5AD48-C1F3-4CF7-87E1-854620F8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581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7F6FF"/>
          </a:solidFill>
          <a:ln xmlns:a="http://schemas.openxmlformats.org/drawingml/2006/main" w="9525">
            <a:solidFill>
              <a:srgbClr val="E7F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D1265-990A-46BD-857B-DD8B36DD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87C9"/>
                </a:solidFill>
              </a:defRPr>
            </a:pPr>
            <a:r>
              <a:rPr sz="975" b="1">
                <a:solidFill>
                  <a:srgbClr val="1487C9"/>
                </a:solidFill>
              </a:rPr>
              <a:t>QUÉ 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2D76E-E04A-45C7-AE70-1E97B7E9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Reportes de planta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D1782-DF29-42B8-BE5E-260483F0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Panel de anuncios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41E0B-F194-414B-B155-D5A268A2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E"/>
                </a:solidFill>
              </a:defRPr>
            </a:pPr>
            <a:r>
              <a:rPr sz="1275" b="0">
                <a:solidFill>
                  <a:srgbClr val="60748E"/>
                </a:solidFill>
              </a:rPr>
              <a:t>Avisos globales o dirigidos a su área.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79669-8234-4945-8362-43D98EB1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67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39800-769A-4FF7-8D03-612B7EC2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101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QR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835C1-05EA-4AE1-BE84-A289489E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000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D7B75-6B5B-47AF-832C-BC8A7D57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14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AE8EC-A84C-4BD6-9B1D-AE274360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574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9F4EB-C0E0-4A76-A36D-9703FC0F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00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Escanear o abrir reporte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95BD15-3191-495B-8D84-53712267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48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48E"/>
                </a:solidFill>
              </a:defRPr>
            </a:pPr>
            <a:r>
              <a:rPr sz="1050" b="0">
                <a:solidFill>
                  <a:srgbClr val="60748E"/>
                </a:solidFill>
              </a:rPr>
              <a:t>El QR identifica la máquina correcta.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F764F-87D7-447C-B9C2-2D364CDE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2000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3600E-E3C0-4DA8-B2C7-B6525EFA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14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9614"/>
          </a:solidFill>
          <a:ln xmlns:a="http://schemas.openxmlformats.org/drawingml/2006/main" w="9525">
            <a:solidFill>
              <a:srgbClr val="DC96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C2232-C0B6-4023-940D-CD22B9A9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574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319C4-09DF-4618-846E-0DE44E4F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0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Completar la falla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23A51F-C20C-46C2-A391-C467CF03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48E"/>
                </a:solidFill>
              </a:defRPr>
            </a:pPr>
            <a:r>
              <a:rPr sz="1050" b="0">
                <a:solidFill>
                  <a:srgbClr val="60748E"/>
                </a:solidFill>
              </a:rPr>
              <a:t>Selecciona área, máquina, prioridad y fecha.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811DEB-DF50-4324-AB11-A999A873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24100"/>
            <a:ext cx="2000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258E53-7DEC-4CDB-AA9C-6896E155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9768"/>
          </a:solidFill>
          <a:ln xmlns:a="http://schemas.openxmlformats.org/drawingml/2006/main" w="9525">
            <a:solidFill>
              <a:srgbClr val="2097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3C2694-33EB-4E31-B284-6C792099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574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537FD5-C0D4-4478-AF77-726FDB8F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0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Adjuntar evidencia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79DD4A-FAC5-4654-851F-2B37E096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48E"/>
                </a:solidFill>
              </a:defRPr>
            </a:pPr>
            <a:r>
              <a:rPr sz="1050" b="0">
                <a:solidFill>
                  <a:srgbClr val="60748E"/>
                </a:solidFill>
              </a:rPr>
              <a:t>Describe lo observado y agrega una foto.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F5A32-5139-4E38-B6FC-420EEFEB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054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45B"/>
                </a:solidFill>
              </a:defRPr>
            </a:pPr>
            <a:r>
              <a:rPr sz="1425" b="1">
                <a:solidFill>
                  <a:srgbClr val="16345B"/>
                </a:solidFill>
              </a:rPr>
              <a:t>Resultado: la incidencia llega al centro de mantenimiento para que sea atendida.</a:t>
            </a:r>
          </a:p>
        </p:txBody>
      </p:sp>
    </p:spTree>
    <p:extLst>
      <p:ext uri="{BB962C8B-B14F-4D97-AF65-F5344CB8AC3E}">
        <p14:creationId xmlns:p14="http://schemas.microsoft.com/office/powerpoint/2010/main" val="545129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C48B6B-DF8D-446F-BEFA-E1E1B5F1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7C9"/>
                </a:solidFill>
              </a:defRPr>
            </a:pPr>
            <a:r>
              <a:rPr sz="900" b="1">
                <a:solidFill>
                  <a:srgbClr val="1487C9"/>
                </a:solidFill>
              </a:rPr>
              <a:t>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C1E7C-ED1C-4912-9CE3-4E203DCD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El técnico transforma un reporte en una orden resuelta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F213C-C9C5-4485-9EC3-FD882633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E"/>
                </a:solidFill>
              </a:defRPr>
            </a:pPr>
            <a:r>
              <a:rPr sz="1350" b="0">
                <a:solidFill>
                  <a:srgbClr val="60748E"/>
                </a:solidFill>
              </a:rPr>
              <a:t>Cada paso deja trazabilidad de la intervención.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82702-BD43-45AE-8FAF-4CD55769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7B7FE-E7F4-4CB2-B4F7-E3E7BD87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INCAMAT  |  Manual didáctico de 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3C6CB-21DF-4CB3-A3C0-970314C4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BEF64-4EAB-47C9-B2CB-19192D0B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4574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B952A-8388-42D9-ACAF-B78A6395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A8393-3170-42D1-850E-C0055CCB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89A07-93C1-4CCE-8AB8-65983BB7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Iniciar orden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A2BFA-E732-4E90-B2F5-630419F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E"/>
                </a:solidFill>
              </a:defRPr>
            </a:pPr>
            <a:r>
              <a:rPr sz="1200" b="0">
                <a:solidFill>
                  <a:srgbClr val="60748E"/>
                </a:solidFill>
              </a:rPr>
              <a:t>Registra hora de inicio y activa el tiempo.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FA0EA-C19A-4293-A8BA-CC3CB374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28875"/>
            <a:ext cx="24574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0D97A-C1E0-4BFA-8616-12BD7978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9614"/>
          </a:solidFill>
          <a:ln xmlns:a="http://schemas.openxmlformats.org/drawingml/2006/main" w="9525">
            <a:solidFill>
              <a:srgbClr val="DC96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FE81A-4393-419F-B1A1-18906D43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908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6B79F-51A8-400C-AE69-E720A8AE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Diagnosticar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E3A55-5F58-4824-917C-EC127218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48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E"/>
                </a:solidFill>
              </a:defRPr>
            </a:pPr>
            <a:r>
              <a:rPr sz="1200" b="0">
                <a:solidFill>
                  <a:srgbClr val="60748E"/>
                </a:solidFill>
              </a:rPr>
              <a:t>Identifica causa y describe el trabajo.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E765B-A702-4216-9BA2-E1A61DC7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28875"/>
            <a:ext cx="24574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6B4EF-D17D-4848-AB7E-6726D601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56B9"/>
          </a:solidFill>
          <a:ln xmlns:a="http://schemas.openxmlformats.org/drawingml/2006/main" w="9525">
            <a:solidFill>
              <a:srgbClr val="7556B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B3318-552D-43FF-8A81-5B89747E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908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49848-387F-4950-9D71-7B7557F1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Usar repuesto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A96EA-BDC0-4CAA-B462-FF2BDB77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E"/>
                </a:solidFill>
              </a:defRPr>
            </a:pPr>
            <a:r>
              <a:rPr sz="1200" b="0">
                <a:solidFill>
                  <a:srgbClr val="60748E"/>
                </a:solidFill>
              </a:rPr>
              <a:t>Registra la salida relacionada con la orden.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997EEA-686A-4F5A-BF87-6B83F7DA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28875"/>
            <a:ext cx="24574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42EB14-AE3F-4B79-AAF2-DA313A16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9768"/>
          </a:solidFill>
          <a:ln xmlns:a="http://schemas.openxmlformats.org/drawingml/2006/main" w="9525">
            <a:solidFill>
              <a:srgbClr val="2097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BBF92-1E40-495C-A223-B544044D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908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97F51-7F60-4385-A573-7680042D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Cerrar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84131-2021-42A0-BE3D-0B41026E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48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E"/>
                </a:solidFill>
              </a:defRPr>
            </a:pPr>
            <a:r>
              <a:rPr sz="1200" b="0">
                <a:solidFill>
                  <a:srgbClr val="60748E"/>
                </a:solidFill>
              </a:rPr>
              <a:t>Foto final, prueba, hora de cierre y estado.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B7AED9-276B-446D-9B18-BF1D8493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03EF2C-A7F9-40BC-BFCA-491B0563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45B"/>
                </a:solidFill>
              </a:defRPr>
            </a:pPr>
            <a:r>
              <a:rPr sz="1350" b="1">
                <a:solidFill>
                  <a:srgbClr val="16345B"/>
                </a:solidFill>
              </a:rPr>
              <a:t>También puede consultar sus anuncios y crear solicitudes de repuestos para su área.</a:t>
            </a:r>
          </a:p>
        </p:txBody>
      </p:sp>
    </p:spTree>
    <p:extLst>
      <p:ext uri="{BB962C8B-B14F-4D97-AF65-F5344CB8AC3E}">
        <p14:creationId xmlns:p14="http://schemas.microsoft.com/office/powerpoint/2010/main" val="18487780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DCC93C-5E72-4F02-8CD1-A3BEF7F8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7C9"/>
                </a:solidFill>
              </a:defRPr>
            </a:pPr>
            <a:r>
              <a:rPr sz="900" b="1">
                <a:solidFill>
                  <a:srgbClr val="1487C9"/>
                </a:solidFill>
              </a:rPr>
              <a:t>ADMINISTRADOR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77477-57C9-459A-83D4-AF6194FB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El administrador mantiene la aplicación ordenada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095E5-D10C-42A4-A14F-A2F7411C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E"/>
                </a:solidFill>
              </a:defRPr>
            </a:pPr>
            <a:r>
              <a:rPr sz="1350" b="0">
                <a:solidFill>
                  <a:srgbClr val="60748E"/>
                </a:solidFill>
              </a:rPr>
              <a:t>Es responsable de usuarios, catálogos, importaciones y comunicación operativa.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7B92A-56D1-4775-8032-F9F3AA24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AF69F-73E3-4C91-B847-C7BEB0A3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INCAMAT  |  Manual didáctico de 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3C25D-9275-4EA4-A770-D4172885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325CB-708E-4790-94DE-47CF5C66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096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4B1AB-3D3F-4315-A227-CA17977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1C5C9-93B1-4531-BD62-6B6CCD2C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669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696ED-1090-4073-A824-AC5D212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Usuarios y permisos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69534-A499-40BA-9894-35CAB34A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90775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E"/>
                </a:solidFill>
              </a:defRPr>
            </a:pPr>
            <a:r>
              <a:rPr sz="1200" b="0">
                <a:solidFill>
                  <a:srgbClr val="60748E"/>
                </a:solidFill>
              </a:rPr>
              <a:t>Crea cuentas, elige rol y asigna el área de cada persona.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3BDFA-7DEB-4018-BE61-B183AA72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096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28D58-EADD-4774-9B00-2B2F23B2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9614"/>
          </a:solidFill>
          <a:ln xmlns:a="http://schemas.openxmlformats.org/drawingml/2006/main" w="9525">
            <a:solidFill>
              <a:srgbClr val="DC96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28895-8C3A-430D-9CA7-98BCBCCA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F3321-1973-48EE-AB29-6B5C525C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62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Importaciones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9C2F9-C297-4E58-8F48-7BD16D11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71825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E"/>
                </a:solidFill>
              </a:defRPr>
            </a:pPr>
            <a:r>
              <a:rPr sz="1200" b="0">
                <a:solidFill>
                  <a:srgbClr val="60748E"/>
                </a:solidFill>
              </a:rPr>
              <a:t>Usa plantillas, valida y revisa el historial del archivo.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81940-9D7A-4E9B-A3F7-D46523C8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096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2E5CA-9C4C-43A0-966A-953EF3E8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9768"/>
          </a:solidFill>
          <a:ln xmlns:a="http://schemas.openxmlformats.org/drawingml/2006/main" w="9525">
            <a:solidFill>
              <a:srgbClr val="2097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D2842-CE98-409D-9B58-76108918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F6151-AC74-4C0C-866B-A3DAA73E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Catálogos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A3D40-B057-4BE3-BEF7-4D9987FE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E"/>
                </a:solidFill>
              </a:defRPr>
            </a:pPr>
            <a:r>
              <a:rPr sz="1200" b="0">
                <a:solidFill>
                  <a:srgbClr val="60748E"/>
                </a:solidFill>
              </a:rPr>
              <a:t>Administra áreas, máquinas y repuestos sin duplicar códigos.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73037-4D5E-47A7-A5EC-87E0F139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096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7990F6-21FB-42E5-AA22-983C2ABA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56B9"/>
          </a:solidFill>
          <a:ln xmlns:a="http://schemas.openxmlformats.org/drawingml/2006/main" w="9525">
            <a:solidFill>
              <a:srgbClr val="7556B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F582D9-60E5-4983-8BDE-CB7C75BD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B6CB6-AF94-4FBD-8953-A4DB02A3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Panel de anuncios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89606B-E0B1-40F4-9D42-F9B47329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33925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E"/>
                </a:solidFill>
              </a:defRPr>
            </a:pPr>
            <a:r>
              <a:rPr sz="1200" b="0">
                <a:solidFill>
                  <a:srgbClr val="60748E"/>
                </a:solidFill>
              </a:rPr>
              <a:t>Redacta, segmenta, publica, archiva o elimina avisos.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F0FC00-5654-408D-8F3E-B7F9537D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45B"/>
                </a:solidFill>
              </a:defRPr>
            </a:pPr>
            <a:r>
              <a:rPr sz="1425" b="1">
                <a:solidFill>
                  <a:srgbClr val="16345B"/>
                </a:solidFill>
              </a:rPr>
              <a:t>Antes de publicar por área, asigne el área al usuario en Usuarios y permisos.</a:t>
            </a:r>
          </a:p>
        </p:txBody>
      </p:sp>
    </p:spTree>
    <p:extLst>
      <p:ext uri="{BB962C8B-B14F-4D97-AF65-F5344CB8AC3E}">
        <p14:creationId xmlns:p14="http://schemas.microsoft.com/office/powerpoint/2010/main" val="5189364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B5778-B3C6-4929-B957-9183BF3D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Nuevo panel de anuncios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DECD7-FB8A-420B-A543-A0E6835F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4E9FE"/>
                </a:solidFill>
              </a:defRPr>
            </a:pPr>
            <a:r>
              <a:rPr sz="1425" b="0">
                <a:solidFill>
                  <a:srgbClr val="D4E9FE"/>
                </a:solidFill>
              </a:rPr>
              <a:t>Una comunicación llega a la persona correcta sin llenar de avisos a toda la planta.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935D4-716A-4C29-89C5-AF676677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1623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72080-D406-4CA9-AC0F-48F1E7E5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57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74F"/>
          </a:solidFill>
          <a:ln xmlns:a="http://schemas.openxmlformats.org/drawingml/2006/main" w="9525">
            <a:solidFill>
              <a:srgbClr val="D757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46028-46EC-4247-B546-B6A5B8D4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003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69F58-F4FA-4F96-9B44-8C667334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Administrador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C2901-D3DC-4C99-BD2F-F06F5CF8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861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4E9FE"/>
                </a:solidFill>
              </a:defRPr>
            </a:pPr>
            <a:r>
              <a:rPr sz="1350" b="0">
                <a:solidFill>
                  <a:srgbClr val="D4E9FE"/>
                </a:solidFill>
              </a:rPr>
              <a:t>Crea el aviso,</a:t>
            </a:r>
          </a:p>
          <a:p xmlns:a="http://schemas.openxmlformats.org/drawingml/2006/main">
            <a:pPr algn="ctr">
              <a:defRPr sz="1350" b="0">
                <a:solidFill>
                  <a:srgbClr val="D4E9FE"/>
                </a:solidFill>
              </a:defRPr>
            </a:pPr>
            <a:r>
              <a:rPr sz="1350" b="0">
                <a:solidFill>
                  <a:srgbClr val="D4E9FE"/>
                </a:solidFill>
              </a:rPr>
              <a:t>elige destinatarios</a:t>
            </a:r>
          </a:p>
          <a:p xmlns:a="http://schemas.openxmlformats.org/drawingml/2006/main">
            <a:pPr algn="ctr">
              <a:defRPr sz="1350" b="0">
                <a:solidFill>
                  <a:srgbClr val="D4E9FE"/>
                </a:solidFill>
              </a:defRPr>
            </a:pPr>
            <a:r>
              <a:rPr sz="1350" b="0">
                <a:solidFill>
                  <a:srgbClr val="D4E9FE"/>
                </a:solidFill>
              </a:rPr>
              <a:t>y publica.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43149-7B21-4856-BFCC-B6882FBD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71750"/>
            <a:ext cx="19240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D5A56-123F-48E6-A29B-070D0AD1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019A1-1A3C-467E-8250-0CC2A7A9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241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86B2C-E703-4B13-8A7D-8EBB8C85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Operarios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DF638-B714-482C-8F7D-DF602D66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862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4E9FE"/>
                </a:solidFill>
              </a:defRPr>
            </a:pPr>
            <a:r>
              <a:rPr sz="1125" b="0">
                <a:solidFill>
                  <a:srgbClr val="D4E9FE"/>
                </a:solidFill>
              </a:rPr>
              <a:t>Solo ven anuncios</a:t>
            </a:r>
          </a:p>
          <a:p xmlns:a="http://schemas.openxmlformats.org/drawingml/2006/main">
            <a:pPr algn="ctr">
              <a:defRPr sz="1125" b="0">
                <a:solidFill>
                  <a:srgbClr val="D4E9FE"/>
                </a:solidFill>
              </a:defRPr>
            </a:pPr>
            <a:r>
              <a:rPr sz="1125" b="0">
                <a:solidFill>
                  <a:srgbClr val="D4E9FE"/>
                </a:solidFill>
              </a:rPr>
              <a:t>para su perfil / área.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E10B0-D678-40B2-90A8-CF5D9799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71750"/>
            <a:ext cx="19240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219D4-56EF-4961-898C-B83C3189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81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9768"/>
          </a:solidFill>
          <a:ln xmlns:a="http://schemas.openxmlformats.org/drawingml/2006/main" w="9525">
            <a:solidFill>
              <a:srgbClr val="2097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1DADD-C8D9-4269-8689-60F56309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241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91BF8-EE4C-4718-AE7C-97641B9A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Técnicos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EAC45-265A-45C1-9C23-81B69C99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862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4E9FE"/>
                </a:solidFill>
              </a:defRPr>
            </a:pPr>
            <a:r>
              <a:rPr sz="1125" b="0">
                <a:solidFill>
                  <a:srgbClr val="D4E9FE"/>
                </a:solidFill>
              </a:rPr>
              <a:t>Solo ven anuncios</a:t>
            </a:r>
          </a:p>
          <a:p xmlns:a="http://schemas.openxmlformats.org/drawingml/2006/main">
            <a:pPr algn="ctr">
              <a:defRPr sz="1125" b="0">
                <a:solidFill>
                  <a:srgbClr val="D4E9FE"/>
                </a:solidFill>
              </a:defRPr>
            </a:pPr>
            <a:r>
              <a:rPr sz="1125" b="0">
                <a:solidFill>
                  <a:srgbClr val="D4E9FE"/>
                </a:solidFill>
              </a:rPr>
              <a:t>para su perfil / área.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1E7F4-5C2A-4D0C-8C7A-BA92EA48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71750"/>
            <a:ext cx="19240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40EB7-A2E7-4A7E-B108-521BE03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81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9614"/>
          </a:solidFill>
          <a:ln xmlns:a="http://schemas.openxmlformats.org/drawingml/2006/main" w="9525">
            <a:solidFill>
              <a:srgbClr val="DC96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FB7A3-A21E-4FE4-83E4-E1DFD6B5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241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8108C-3A59-4B1F-9D76-5D95CC0C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242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Toda la planta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74C61-3860-446E-8E38-653F8B69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62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4E9FE"/>
                </a:solidFill>
              </a:defRPr>
            </a:pPr>
            <a:r>
              <a:rPr sz="1125" b="0">
                <a:solidFill>
                  <a:srgbClr val="D4E9FE"/>
                </a:solidFill>
              </a:rPr>
              <a:t>Ve avisos generales.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D2FD0-9AD0-4791-BFAB-E9188B10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Segmentación = Rol + Área + vigencia + prioridad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C7AF9-C283-4A4A-85F0-FCA2D161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INCAMAT  |  Manual didáctico de uso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4D356-8DE7-4FA9-81E2-64A29EC8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841529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232D6A-04EF-4DE0-A997-52476F0C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7C9"/>
                </a:solidFill>
              </a:defRPr>
            </a:pPr>
            <a:r>
              <a:rPr sz="900" b="1">
                <a:solidFill>
                  <a:srgbClr val="1487C9"/>
                </a:solidFill>
              </a:rPr>
              <a:t>ADMINISTRAR ANUNCIOS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79FB2-561D-4510-82E2-8E020D6C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Publicar un aviso por área toma cuatro decisiones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76396-E62E-43D7-A6CF-CD6C5BA1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E"/>
                </a:solidFill>
              </a:defRPr>
            </a:pPr>
            <a:r>
              <a:rPr sz="1350" b="0">
                <a:solidFill>
                  <a:srgbClr val="60748E"/>
                </a:solidFill>
              </a:rPr>
              <a:t>El panel permite informar mantenimientos programados, seguridad, stock u otras novedades.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DDECD-C18C-4AB3-BCE8-85774D4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3EA1D-441E-41AA-AE99-185A26D4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INCAMAT  |  Manual didáctico de 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19F3E-7189-4E90-A8AA-E659A489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64300-40F1-4809-A094-37FF204E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384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7DBA1-BB89-4051-975C-4879DA19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21BFE-0D99-418A-BF31-EF9D746B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955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B0E79-EC1D-498E-8736-5B541BBA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Redactar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69973-0E21-447E-B749-0C32FCDB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48E"/>
                </a:solidFill>
              </a:defRPr>
            </a:pPr>
            <a:r>
              <a:rPr sz="1050" b="0">
                <a:solidFill>
                  <a:srgbClr val="60748E"/>
                </a:solidFill>
              </a:rPr>
              <a:t>Escribe un título breve y un mensaje claro.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C90B2-3C00-4F70-A548-C0CCAB9D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24384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B2880-EF8A-4F35-A987-5A6D023D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52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9768"/>
          </a:solidFill>
          <a:ln xmlns:a="http://schemas.openxmlformats.org/drawingml/2006/main" w="9525">
            <a:solidFill>
              <a:srgbClr val="2097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6A746-1BB3-4689-A8D7-94793762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955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AF13A-9EC9-4C63-BC71-857B2C66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Enviar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936B0-2E2D-45AC-AF53-E9BB59C9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86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48E"/>
                </a:solidFill>
              </a:defRPr>
            </a:pPr>
            <a:r>
              <a:rPr sz="1050" b="0">
                <a:solidFill>
                  <a:srgbClr val="60748E"/>
                </a:solidFill>
              </a:rPr>
              <a:t>Todos, operarios o técnicos.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14908-A97B-4665-AEB1-6CDFC641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4384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872DB-8ECB-4321-9DDB-4CC75EE6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9614"/>
          </a:solidFill>
          <a:ln xmlns:a="http://schemas.openxmlformats.org/drawingml/2006/main" w="9525">
            <a:solidFill>
              <a:srgbClr val="DC96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E1F62-2545-4763-8AF6-0F4418E5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955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2946C-864D-445A-8E93-B4B90531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Elegir área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10AB6-73C5-406C-B6CE-D763629C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48E"/>
                </a:solidFill>
              </a:defRPr>
            </a:pPr>
            <a:r>
              <a:rPr sz="1050" b="0">
                <a:solidFill>
                  <a:srgbClr val="60748E"/>
                </a:solidFill>
              </a:rPr>
              <a:t>Toda la planta o un área específica.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48A55-1949-401F-9454-A54F558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24384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0F404-D0D5-49D9-920B-2AAFD379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56B9"/>
          </a:solidFill>
          <a:ln xmlns:a="http://schemas.openxmlformats.org/drawingml/2006/main" w="9525">
            <a:solidFill>
              <a:srgbClr val="7556B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A4099-22D0-44AD-A33B-CA28582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955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CBDD2-99C8-41F6-9F06-3ED9BCD7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Definir prioridad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771833-093B-428F-B8E7-C7EA6026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86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48E"/>
                </a:solidFill>
              </a:defRPr>
            </a:pPr>
            <a:r>
              <a:rPr sz="1050" b="0">
                <a:solidFill>
                  <a:srgbClr val="60748E"/>
                </a:solidFill>
              </a:rPr>
              <a:t>Informativo, importante o urgente.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0AF34-26FA-48C5-A72B-92960726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9448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6FF"/>
          </a:solidFill>
          <a:ln xmlns:a="http://schemas.openxmlformats.org/drawingml/2006/main" w="9525">
            <a:solidFill>
              <a:srgbClr val="E7F6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5B9C40-9338-41D3-BB57-56A95082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0062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El anuncio publicado se muestra automáticamente solo si el perfil y el área del usuario coinciden.</a:t>
            </a:r>
          </a:p>
        </p:txBody>
      </p:sp>
    </p:spTree>
    <p:extLst>
      <p:ext uri="{BB962C8B-B14F-4D97-AF65-F5344CB8AC3E}">
        <p14:creationId xmlns:p14="http://schemas.microsoft.com/office/powerpoint/2010/main" val="1028679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046EF7-7307-4984-8F73-D6D9137D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7C9"/>
                </a:solidFill>
              </a:defRPr>
            </a:pPr>
            <a:r>
              <a:rPr sz="900" b="1">
                <a:solidFill>
                  <a:srgbClr val="1487C9"/>
                </a:solidFill>
              </a:rPr>
              <a:t>ACTIVOS E INVENTARIO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F2533-769A-4544-9DEE-D0836D7F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Cada módulo conserva el contexto técnico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C21E9-D749-485A-9714-CD09DB3C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E"/>
                </a:solidFill>
              </a:defRPr>
            </a:pPr>
            <a:r>
              <a:rPr sz="1350" b="0">
                <a:solidFill>
                  <a:srgbClr val="60748E"/>
                </a:solidFill>
              </a:rPr>
              <a:t>Usa estas secciones antes, durante y después de una atención.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5527B-BBCA-410C-91D1-AB78D37F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6EDF4-C6E0-4ED1-A16B-AB1B31FE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INCAMAT  |  Manual didáctico de 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DDA9A-2A9D-462C-8CF2-A4BD0F98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62199-B5C8-4DEE-BFCF-7A8A8C44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57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CA1D9-AAC3-49EC-82C5-F4D09117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CDD75-80B4-46C3-9CF8-C4E70C52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3E202-339F-4C6C-9DC5-A7A76F5C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52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Áreas y localizaciones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B8000-AA81-495D-BFF9-46DC98B8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337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E"/>
                </a:solidFill>
              </a:defRPr>
            </a:pPr>
            <a:r>
              <a:rPr sz="1275" b="0">
                <a:solidFill>
                  <a:srgbClr val="60748E"/>
                </a:solidFill>
              </a:rPr>
              <a:t>Planta → área → máquina.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1143E-6649-4382-8BC3-2B8F22A3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5257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CCF3D-82AD-4D69-8990-6FC71811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9768"/>
          </a:solidFill>
          <a:ln xmlns:a="http://schemas.openxmlformats.org/drawingml/2006/main" w="9525">
            <a:solidFill>
              <a:srgbClr val="2097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2207A-01A0-4EEA-9DFA-13F304AF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7C72D-FD9F-4DB3-80BD-32A56063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Máquinas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00D4B-6E4C-4595-A24A-E0C2D518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E"/>
                </a:solidFill>
              </a:defRPr>
            </a:pPr>
            <a:r>
              <a:rPr sz="1275" b="0">
                <a:solidFill>
                  <a:srgbClr val="60748E"/>
                </a:solidFill>
              </a:rPr>
              <a:t>Ficha, QR, marca, modelo, estado e historial.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CAC42-6BBB-4B28-B6EC-06A3150D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57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133E5-0F56-48A4-B35B-30E4478A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74F"/>
          </a:solidFill>
          <a:ln xmlns:a="http://schemas.openxmlformats.org/drawingml/2006/main" w="9525">
            <a:solidFill>
              <a:srgbClr val="D757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D5A4E-BB3A-46C6-9A72-71861A90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C1F92-FE3D-4F29-9F9F-41CE6F81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Máquinas paradas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471A7-DEEB-4262-8B94-F3F92785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24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E"/>
                </a:solidFill>
              </a:defRPr>
            </a:pPr>
            <a:r>
              <a:rPr sz="1275" b="0">
                <a:solidFill>
                  <a:srgbClr val="60748E"/>
                </a:solidFill>
              </a:rPr>
              <a:t>Motivo, estado y acción pendiente.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5FF79-B51F-40E9-9148-0D265700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5257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08381-305E-4D30-A247-B5A8B4DA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47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9614"/>
          </a:solidFill>
          <a:ln xmlns:a="http://schemas.openxmlformats.org/drawingml/2006/main" w="9525">
            <a:solidFill>
              <a:srgbClr val="DC96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110119-B97A-433A-8BD9-50EA32A8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88D5C7-0FD4-4611-AF17-18C875DA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Repuestos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D6F24-6B72-4C26-B671-4C02F946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24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E"/>
                </a:solidFill>
              </a:defRPr>
            </a:pPr>
            <a:r>
              <a:rPr sz="1275" b="0">
                <a:solidFill>
                  <a:srgbClr val="60748E"/>
                </a:solidFill>
              </a:rPr>
              <a:t>Familia, criticidad, stock, consumo y solicitudes.</a:t>
            </a:r>
          </a:p>
        </p:txBody>
      </p:sp>
    </p:spTree>
    <p:extLst>
      <p:ext uri="{BB962C8B-B14F-4D97-AF65-F5344CB8AC3E}">
        <p14:creationId xmlns:p14="http://schemas.microsoft.com/office/powerpoint/2010/main" val="13564535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21BAD8-2DEA-439D-8E0D-89903AC7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7C9"/>
                </a:solidFill>
              </a:defRPr>
            </a:pPr>
            <a:r>
              <a:rPr sz="900" b="1">
                <a:solidFill>
                  <a:srgbClr val="1487C9"/>
                </a:solidFill>
              </a:rPr>
              <a:t>CONTROL Y DECISIONES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6A4E0-5512-4437-9ABC-0E6AB079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Importar, validar y luego analizar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DF70B-BBF4-46C2-9BC2-4F76D6AE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E"/>
                </a:solidFill>
              </a:defRPr>
            </a:pPr>
            <a:r>
              <a:rPr sz="1350" b="0">
                <a:solidFill>
                  <a:srgbClr val="60748E"/>
                </a:solidFill>
              </a:rPr>
              <a:t>Los datos solo son útiles cuando se cargan con una plantilla consistente y se revisan en el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0978F-F621-46F3-BD48-71DB7037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8DFF2-3F92-48DF-88B2-759833DF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INCAMAT  |  Manual didáctico de 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70122-E81C-4A82-99FC-1D55E224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48AB7-0D81-4F91-AE59-F764DF5D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4958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6FF"/>
          </a:solidFill>
          <a:ln xmlns:a="http://schemas.openxmlformats.org/drawingml/2006/main" w="9525">
            <a:solidFill>
              <a:srgbClr val="E7F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B9BAD-EBB8-40F9-8E7D-66840D51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Importaciones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D9CAC-9AEF-4BE4-AA73-A6650EF1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90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E0248-3FB1-449C-978B-43804E9A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Descarga la plantilla oficial.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A8B11-0D59-4455-B851-08FDE651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9614"/>
          </a:solidFill>
          <a:ln xmlns:a="http://schemas.openxmlformats.org/drawingml/2006/main" w="9525">
            <a:solidFill>
              <a:srgbClr val="DC96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4584C-405D-4A92-A5D7-565B27A9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Carga y revisa la vista previa.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E2089-875F-466B-8D75-E475DB04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29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9768"/>
          </a:solidFill>
          <a:ln xmlns:a="http://schemas.openxmlformats.org/drawingml/2006/main" w="9525">
            <a:solidFill>
              <a:srgbClr val="2097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D622A-8E77-43D5-AB0C-15AA39A8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5B"/>
                </a:solidFill>
              </a:defRPr>
            </a:pPr>
            <a:r>
              <a:rPr sz="1275" b="0">
                <a:solidFill>
                  <a:srgbClr val="16345B"/>
                </a:solidFill>
              </a:rPr>
              <a:t>Procesa o corrige errores.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C3020-10A3-40FE-A892-4CB45538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24100"/>
            <a:ext cx="59436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82987-A3D2-4D92-9EFB-4E4DBDDC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09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F0EB3-EC22-4E50-AEC8-264FF543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38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45B"/>
                </a:solidFill>
              </a:defRPr>
            </a:pPr>
            <a:r>
              <a:rPr sz="1275" b="1">
                <a:solidFill>
                  <a:srgbClr val="16345B"/>
                </a:solidFill>
              </a:rPr>
              <a:t>Paradas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9A296-0306-4E83-BB64-F7413F5F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2857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E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178E9-7694-4F7F-9DF8-053E4719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23431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574F"/>
          </a:solidFill>
          <a:ln xmlns:a="http://schemas.openxmlformats.org/drawingml/2006/main" w="9525">
            <a:solidFill>
              <a:srgbClr val="D757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42B08-6748-4B39-81D9-97DA1341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52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45B"/>
                </a:solidFill>
              </a:defRPr>
            </a:pPr>
            <a:r>
              <a:rPr sz="1275" b="1">
                <a:solidFill>
                  <a:srgbClr val="16345B"/>
                </a:solidFill>
              </a:rPr>
              <a:t>Mantenimientos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12D28-D5DC-46DA-9C2F-3431ED09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2857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E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AF328-53F5-4884-AC41-029A2111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1600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9614"/>
          </a:solidFill>
          <a:ln xmlns:a="http://schemas.openxmlformats.org/drawingml/2006/main" w="9525">
            <a:solidFill>
              <a:srgbClr val="DC96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196F9-37D5-4D56-972C-73D868CF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67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45B"/>
                </a:solidFill>
              </a:defRPr>
            </a:pPr>
            <a:r>
              <a:rPr sz="1275" b="1">
                <a:solidFill>
                  <a:srgbClr val="16345B"/>
                </a:solidFill>
              </a:rPr>
              <a:t>Repuestos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0DD3F-819B-4CA6-A653-12379D88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2857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E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F17BCA-DAAA-4523-91A6-61A3E177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12001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83E2B6-5327-4C1B-A007-EE54C73B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45B"/>
                </a:solidFill>
              </a:defRPr>
            </a:pPr>
            <a:r>
              <a:rPr sz="1425" b="1">
                <a:solidFill>
                  <a:srgbClr val="16345B"/>
                </a:solidFill>
              </a:rPr>
              <a:t>Filtra historial por día, semana, mes, año o todo el período.</a:t>
            </a:r>
          </a:p>
        </p:txBody>
      </p:sp>
    </p:spTree>
    <p:extLst>
      <p:ext uri="{BB962C8B-B14F-4D97-AF65-F5344CB8AC3E}">
        <p14:creationId xmlns:p14="http://schemas.microsoft.com/office/powerpoint/2010/main" val="15201073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137324-FE34-4119-A43D-8F88D1DB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Una buena atención termina con un registro completo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68158-BDF8-4788-9C9D-730B2804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4E9FE"/>
                </a:solidFill>
              </a:defRPr>
            </a:pPr>
            <a:r>
              <a:rPr sz="1425" b="0">
                <a:solidFill>
                  <a:srgbClr val="D4E9FE"/>
                </a:solidFill>
              </a:rPr>
              <a:t>La calidad de INCAMAT depende de que cada rol complete su parte del proceso.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D56E9-9829-4A01-9DF2-0AE6301D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314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18214-F2FF-4776-8F0A-064A9DBD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3B3C8-84D6-4CB1-92B4-5E36D01D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87EEB-0BEC-406E-BCFE-2C98C690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Máquina y área correctas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63D18-DA17-4BC8-B370-5A1CD23F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314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BA21D-6AD5-4DC7-8210-973BEACB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95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4F4C6-FB0B-4971-9780-791CA64F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384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17F13-01CC-4F2D-95ED-B1E33C66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67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Evidencia antes y después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38770-5E39-4456-B6D3-CB06614A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3314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720B0-0A3B-4EAE-8C4D-2A9770E1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F34DB-0745-4041-AF39-0021BE2A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384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B03E7-EA5A-40BD-9194-0ED99DF9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Hora de inicio y cierre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7E157-0F47-4B39-9F1E-080A7357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314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2319C-0216-4446-88F0-BEF2003D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16B31-59DF-4756-9A8B-DA508F95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59C57D-5C6F-46EA-8DD0-279B917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86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Diagnóstico y trabajo realizado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BA617-7F4E-496A-8A63-328ADFC7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3314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A6A6D-CF36-4905-98C9-A01250FD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DE7921-822F-4998-A6A1-30FF77C9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576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7838D-B156-4F5F-9462-A6A04F10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86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Repuestos utilizados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48944C-197A-4C6C-B4D1-EC18FDB3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3314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A64"/>
          </a:solidFill>
          <a:ln xmlns:a="http://schemas.openxmlformats.org/drawingml/2006/main" w="9525">
            <a:solidFill>
              <a:srgbClr val="2B548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773DB-5A7C-49F1-9201-1E746AD1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7C9"/>
          </a:solidFill>
          <a:ln xmlns:a="http://schemas.openxmlformats.org/drawingml/2006/main" w="9525">
            <a:solidFill>
              <a:srgbClr val="1487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59160F-7EF8-4F72-BC0C-F52CD93E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D227AF-F93D-462D-B37F-99718E5A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862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Estado final verificado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2E7204-0B56-46F4-A3FB-0764E97D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Reportar  ·  Atender  ·  Comunicar  ·  Controlar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6E4200-C6C7-47E0-9130-A0D68CF7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INCAMAT  |  Manual didáctico de uso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6C893B-94F6-4B8E-9624-803E4C5A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48E"/>
                </a:solidFill>
              </a:defRPr>
            </a:pPr>
            <a:r>
              <a:rPr sz="750" b="1">
                <a:solidFill>
                  <a:srgbClr val="60748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776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2026-08-17T22:27:43.0720000Z</dcterms:created>
  <dcterms:modified xsi:type="dcterms:W3CDTF">2026-08-17T22:27:43.0720000Z</dcterms:modified>
</coreProperties>
</file>