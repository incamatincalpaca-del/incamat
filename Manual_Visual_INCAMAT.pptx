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b60024478b4cc9" /><Relationship Type="http://schemas.openxmlformats.org/officeDocument/2006/relationships/extended-properties" Target="/docProps/app.xml" Id="R9e961464b7604bb1" /><Relationship Type="http://schemas.openxmlformats.org/officeDocument/2006/relationships/officeDocument" Target="/ppt/presentation.xml" Id="R1293346db43d47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b0b0ff54074f1b"/>
  </p:sldMasterIdLst>
  <p:notesMasterIdLst>
    <p:notesMasterId xmlns:r="http://schemas.openxmlformats.org/officeDocument/2006/relationships" r:id="R49ea5adebab04805"/>
  </p:notesMasterIdLst>
  <p:sldIdLst>
    <p:sldId xmlns:r="http://schemas.openxmlformats.org/officeDocument/2006/relationships" id="256" r:id="R4d15c1ddfa894741"/>
    <p:sldId xmlns:r="http://schemas.openxmlformats.org/officeDocument/2006/relationships" id="257" r:id="Rd459d16215c947d7"/>
    <p:sldId xmlns:r="http://schemas.openxmlformats.org/officeDocument/2006/relationships" id="258" r:id="Rb63880321ca84c6c"/>
    <p:sldId xmlns:r="http://schemas.openxmlformats.org/officeDocument/2006/relationships" id="259" r:id="R30c7e95f6fb04e58"/>
    <p:sldId xmlns:r="http://schemas.openxmlformats.org/officeDocument/2006/relationships" id="260" r:id="R5abacedb970f4dd9"/>
    <p:sldId xmlns:r="http://schemas.openxmlformats.org/officeDocument/2006/relationships" id="261" r:id="R16d6b615b0e84c40"/>
    <p:sldId xmlns:r="http://schemas.openxmlformats.org/officeDocument/2006/relationships" id="262" r:id="Rc0ff627abb72456f"/>
    <p:sldId xmlns:r="http://schemas.openxmlformats.org/officeDocument/2006/relationships" id="263" r:id="R901cb27d33c849f8"/>
    <p:sldId xmlns:r="http://schemas.openxmlformats.org/officeDocument/2006/relationships" id="264" r:id="R78d3278120974150"/>
    <p:sldId xmlns:r="http://schemas.openxmlformats.org/officeDocument/2006/relationships" id="265" r:id="R32d7b4abe57142b0"/>
    <p:sldId xmlns:r="http://schemas.openxmlformats.org/officeDocument/2006/relationships" id="266" r:id="Rcc5bb9246ab649ba"/>
    <p:sldId xmlns:r="http://schemas.openxmlformats.org/officeDocument/2006/relationships" id="267" r:id="Rc3075169be5847d6"/>
    <p:sldId xmlns:r="http://schemas.openxmlformats.org/officeDocument/2006/relationships" id="268" r:id="Rd1b2a7c5050b40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e20ca62cf9411f" /><Relationship Type="http://schemas.openxmlformats.org/officeDocument/2006/relationships/slideMaster" Target="/ppt/slideMasters/slideMaster1.xml" Id="R7fb0b0ff54074f1b" /><Relationship Type="http://schemas.openxmlformats.org/officeDocument/2006/relationships/notesMaster" Target="/ppt/notesMasters/notesMaster1.xml" Id="R49ea5adebab04805" /><Relationship Type="http://schemas.openxmlformats.org/officeDocument/2006/relationships/presProps" Target="/ppt/presProps.xml" Id="R86e06f87d427461c" /><Relationship Type="http://schemas.openxmlformats.org/officeDocument/2006/relationships/tableStyles" Target="/ppt/tableStyles.xml" Id="R24cf8991da8d4301" /><Relationship Type="http://schemas.openxmlformats.org/officeDocument/2006/relationships/slide" Target="/ppt/slides/slide1.xml" Id="R4d15c1ddfa894741" /><Relationship Type="http://schemas.openxmlformats.org/officeDocument/2006/relationships/slide" Target="/ppt/slides/slide2.xml" Id="Rd459d16215c947d7" /><Relationship Type="http://schemas.openxmlformats.org/officeDocument/2006/relationships/slide" Target="/ppt/slides/slide3.xml" Id="Rb63880321ca84c6c" /><Relationship Type="http://schemas.openxmlformats.org/officeDocument/2006/relationships/slide" Target="/ppt/slides/slide4.xml" Id="R30c7e95f6fb04e58" /><Relationship Type="http://schemas.openxmlformats.org/officeDocument/2006/relationships/slide" Target="/ppt/slides/slide5.xml" Id="R5abacedb970f4dd9" /><Relationship Type="http://schemas.openxmlformats.org/officeDocument/2006/relationships/slide" Target="/ppt/slides/slide6.xml" Id="R16d6b615b0e84c40" /><Relationship Type="http://schemas.openxmlformats.org/officeDocument/2006/relationships/slide" Target="/ppt/slides/slide7.xml" Id="Rc0ff627abb72456f" /><Relationship Type="http://schemas.openxmlformats.org/officeDocument/2006/relationships/slide" Target="/ppt/slides/slide8.xml" Id="R901cb27d33c849f8" /><Relationship Type="http://schemas.openxmlformats.org/officeDocument/2006/relationships/slide" Target="/ppt/slides/slide9.xml" Id="R78d3278120974150" /><Relationship Type="http://schemas.openxmlformats.org/officeDocument/2006/relationships/slide" Target="/ppt/slides/slide10.xml" Id="R32d7b4abe57142b0" /><Relationship Type="http://schemas.openxmlformats.org/officeDocument/2006/relationships/slide" Target="/ppt/slides/slide11.xml" Id="Rcc5bb9246ab649ba" /><Relationship Type="http://schemas.openxmlformats.org/officeDocument/2006/relationships/slide" Target="/ppt/slides/slide12.xml" Id="Rc3075169be5847d6" /><Relationship Type="http://schemas.openxmlformats.org/officeDocument/2006/relationships/slide" Target="/ppt/slides/slide13.xml" Id="Rd1b2a7c5050b40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109ca70c8d4a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5fdd1bc6a247f7" /><Relationship Type="http://schemas.openxmlformats.org/officeDocument/2006/relationships/notesMaster" Target="/ppt/notesMasters/notesMaster1.xml" Id="Rc28fe8e3180d4b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99615580584a42" /><Relationship Type="http://schemas.openxmlformats.org/officeDocument/2006/relationships/notesMaster" Target="/ppt/notesMasters/notesMaster1.xml" Id="R3fbfe86e0ed044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2eda6bd3449d5" /><Relationship Type="http://schemas.openxmlformats.org/officeDocument/2006/relationships/notesMaster" Target="/ppt/notesMasters/notesMaster1.xml" Id="Rb1f484cae5e144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0394f24c284f78" /><Relationship Type="http://schemas.openxmlformats.org/officeDocument/2006/relationships/notesMaster" Target="/ppt/notesMasters/notesMaster1.xml" Id="R73d0e43c1ea844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59ed8c7c7f40d2" /><Relationship Type="http://schemas.openxmlformats.org/officeDocument/2006/relationships/notesMaster" Target="/ppt/notesMasters/notesMaster1.xml" Id="R173b00f2a00445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423096d114495c" /><Relationship Type="http://schemas.openxmlformats.org/officeDocument/2006/relationships/notesMaster" Target="/ppt/notesMasters/notesMaster1.xml" Id="Rbae25ed2ba4a44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1b15f5a61a45b8" /><Relationship Type="http://schemas.openxmlformats.org/officeDocument/2006/relationships/notesMaster" Target="/ppt/notesMasters/notesMaster1.xml" Id="R50b1b34612a948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faf4cb0b6d4623" /><Relationship Type="http://schemas.openxmlformats.org/officeDocument/2006/relationships/notesMaster" Target="/ppt/notesMasters/notesMaster1.xml" Id="Rb58237fe5a154b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e119aec7484290" /><Relationship Type="http://schemas.openxmlformats.org/officeDocument/2006/relationships/notesMaster" Target="/ppt/notesMasters/notesMaster1.xml" Id="R0a36b3b3d77448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a3ee493bca40e9" /><Relationship Type="http://schemas.openxmlformats.org/officeDocument/2006/relationships/notesMaster" Target="/ppt/notesMasters/notesMaster1.xml" Id="R3b8f7ef807344e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c23c250d0e413a" /><Relationship Type="http://schemas.openxmlformats.org/officeDocument/2006/relationships/notesMaster" Target="/ppt/notesMasters/notesMaster1.xml" Id="Rb1d685caf9c744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5f95004a974494" /><Relationship Type="http://schemas.openxmlformats.org/officeDocument/2006/relationships/notesMaster" Target="/ppt/notesMasters/notesMaster1.xml" Id="R27660368424b43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c7fbce6d224376" /><Relationship Type="http://schemas.openxmlformats.org/officeDocument/2006/relationships/notesMaster" Target="/ppt/notesMasters/notesMaster1.xml" Id="Rbfd6ac2ac4194f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6eac1294a4f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355b8c87c94cf3" /><Relationship Type="http://schemas.openxmlformats.org/officeDocument/2006/relationships/slideLayout" Target="/ppt/slideLayouts/slideLayout1.xml" Id="R225a2f9c055945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5a2f9c055945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c944a5169449b" /><Relationship Type="http://schemas.openxmlformats.org/officeDocument/2006/relationships/notesSlide" Target="/ppt/notesSlides/notesSlide1.xml" Id="R40a71df1d65442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7343d84024a57" /><Relationship Type="http://schemas.openxmlformats.org/officeDocument/2006/relationships/notesSlide" Target="/ppt/notesSlides/notesSlide2.xml" Id="R63ab6f8caec64a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179d492214115" /><Relationship Type="http://schemas.openxmlformats.org/officeDocument/2006/relationships/notesSlide" Target="/ppt/notesSlides/notesSlide3.xml" Id="R84fb7397fc164b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83eb364a14652" /><Relationship Type="http://schemas.openxmlformats.org/officeDocument/2006/relationships/notesSlide" Target="/ppt/notesSlides/notesSlide4.xml" Id="R6df1b5e8cd364e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f01ba580d441c" /><Relationship Type="http://schemas.openxmlformats.org/officeDocument/2006/relationships/notesSlide" Target="/ppt/notesSlides/notesSlide5.xml" Id="R7eda59829ed846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01ac7873843fb" /><Relationship Type="http://schemas.openxmlformats.org/officeDocument/2006/relationships/notesSlide" Target="/ppt/notesSlides/notesSlide6.xml" Id="R3d45b9e1fff74f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b4d99a95645c3" /><Relationship Type="http://schemas.openxmlformats.org/officeDocument/2006/relationships/notesSlide" Target="/ppt/notesSlides/notesSlide7.xml" Id="R7cc1d66af28b47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29297b862487e" /><Relationship Type="http://schemas.openxmlformats.org/officeDocument/2006/relationships/notesSlide" Target="/ppt/notesSlides/notesSlide8.xml" Id="R6ceeafc7c5b645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a51d4a11043a2" /><Relationship Type="http://schemas.openxmlformats.org/officeDocument/2006/relationships/notesSlide" Target="/ppt/notesSlides/notesSlide9.xml" Id="R469a49883c0645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3ea4b321549d9" /><Relationship Type="http://schemas.openxmlformats.org/officeDocument/2006/relationships/notesSlide" Target="/ppt/notesSlides/notesSlide10.xml" Id="R9162a698b84147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396f84fa642ab" /><Relationship Type="http://schemas.openxmlformats.org/officeDocument/2006/relationships/notesSlide" Target="/ppt/notesSlides/notesSlide11.xml" Id="R8973d18190a142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31932122c4035" /><Relationship Type="http://schemas.openxmlformats.org/officeDocument/2006/relationships/notesSlide" Target="/ppt/notesSlides/notesSlide12.xml" Id="R39bc78ed519647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8cc57be3b4d0a" /><Relationship Type="http://schemas.openxmlformats.org/officeDocument/2006/relationships/notesSlide" Target="/ppt/notesSlides/notesSlide13.xml" Id="R91ca538f3c794a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92806-C0D8-4116-BB66-36CD876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867400"/>
          </a:xfrm>
          <a:prstGeom xmlns:a="http://schemas.openxmlformats.org/drawingml/2006/main" prst="roundRect">
            <a:avLst>
              <a:gd name="adj" fmla="val 19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D1FEC-7E69-4161-9E8A-6EF86A1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667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DB49D-2DF0-477E-8E5B-828E1FF7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573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2545"/>
                </a:solidFill>
              </a:defRPr>
            </a:pPr>
            <a:r>
              <a:rPr sz="4050" b="1">
                <a:solidFill>
                  <a:srgbClr val="0B2545"/>
                </a:solidFill>
              </a:rPr>
              <a:t>INCAMAT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49834-DB6E-4AF0-834F-36FD502B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716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B8BCB"/>
                </a:solidFill>
              </a:defRPr>
            </a:pPr>
            <a:r>
              <a:rPr sz="2325" b="1">
                <a:solidFill>
                  <a:srgbClr val="1B8BCB"/>
                </a:solidFill>
              </a:rPr>
              <a:t>Manual visual de uso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0E7D8-B6E0-4E7A-AC38-CF0522B5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18A"/>
                </a:solidFill>
              </a:defRPr>
            </a:pPr>
            <a:r>
              <a:rPr sz="1575" b="0">
                <a:solidFill>
                  <a:srgbClr val="5D718A"/>
                </a:solidFill>
              </a:rPr>
              <a:t>Gestión de activos, mantenimiento e inventario técnico</a:t>
            </a:r>
          </a:p>
          <a:p xmlns:a="http://schemas.openxmlformats.org/drawingml/2006/main">
            <a:pPr algn="l">
              <a:defRPr sz="1575" b="0">
                <a:solidFill>
                  <a:srgbClr val="5D718A"/>
                </a:solidFill>
              </a:defRPr>
            </a:pPr>
            <a:r>
              <a:rPr sz="1575" b="0">
                <a:solidFill>
                  <a:srgbClr val="5D718A"/>
                </a:solidFill>
              </a:rPr>
              <a:t>Planta Incalpaca TPX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59D8-6150-43B2-A1B4-676D2E4A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426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014DA-944D-432C-AE07-BC2D2112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45B"/>
                </a:solidFill>
              </a:defRPr>
            </a:pPr>
            <a:r>
              <a:rPr sz="1650" b="1">
                <a:solidFill>
                  <a:srgbClr val="16345B"/>
                </a:solidFill>
              </a:rPr>
              <a:t>Aprende el flujo completo:</a:t>
            </a:r>
          </a:p>
          <a:p xmlns:a="http://schemas.openxmlformats.org/drawingml/2006/main">
            <a:pPr algn="l">
              <a:defRPr sz="1650" b="1">
                <a:solidFill>
                  <a:srgbClr val="16345B"/>
                </a:solidFill>
              </a:defRPr>
            </a:pPr>
            <a:r>
              <a:rPr sz="1650" b="1">
                <a:solidFill>
                  <a:srgbClr val="16345B"/>
                </a:solidFill>
              </a:rPr>
              <a:t>reportar · atender · controlar · analizar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422B0-3271-4573-9CAE-C2B199F0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76375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FF4FF"/>
          </a:solidFill>
          <a:ln xmlns:a="http://schemas.openxmlformats.org/drawingml/2006/main" w="9525">
            <a:solidFill>
              <a:srgbClr val="DFF4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77EAD-9D13-4BFE-922D-45C22273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977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B8BCB"/>
                </a:solidFill>
              </a:defRPr>
            </a:pPr>
            <a:r>
              <a:rPr sz="4200" b="1">
                <a:solidFill>
                  <a:srgbClr val="1B8BC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4E9FF-62B3-4245-8754-5E63AB96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Una sola plataforma</a:t>
            </a:r>
          </a:p>
          <a:p xmlns:a="http://schemas.openxmlformats.org/drawingml/2006/main">
            <a:pPr algn="ctr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para la operación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F0DDA-7DB7-4705-8B06-E8695758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95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18A"/>
                </a:solidFill>
              </a:defRPr>
            </a:pPr>
            <a:r>
              <a:rPr sz="1050" b="0">
                <a:solidFill>
                  <a:srgbClr val="5D718A"/>
                </a:solidFill>
              </a:rPr>
              <a:t>Guía para operarios, técnicos, ingenieros y administradores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04BB6-D55C-4D4A-907F-E98E7A44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INCAMAT · GUÍA DE USO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C21AF-19EA-4D57-9AA2-8E0CF41C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2334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DABBA-D9BB-4587-9133-7BC73862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BCB"/>
                </a:solidFill>
              </a:defRPr>
            </a:pPr>
            <a:r>
              <a:rPr sz="975" b="1">
                <a:solidFill>
                  <a:srgbClr val="1B8BCB"/>
                </a:solidFill>
              </a:rPr>
              <a:t>¿PARA QUIÉN ES?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B9467-5E45-4B23-B6F9-DB7D8F62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Cada perfil realiza una parte del proceso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7D173-482C-4509-AB1C-FB256F50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A"/>
                </a:solidFill>
              </a:defRPr>
            </a:pPr>
            <a:r>
              <a:rPr sz="1350" b="0">
                <a:solidFill>
                  <a:srgbClr val="5D718A"/>
                </a:solidFill>
              </a:rPr>
              <a:t>INCAMAT conecta el reporte desde planta con la atención técnica y el control administrativo.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1F0B9-E005-4771-A628-60F0FBDA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9DE2E-4158-40CA-86C6-2ACFE8F8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MANUAL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BDD8E-FE29-43B6-83FA-3C45437C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FA071-5EBD-4D5A-98C2-1D4775F8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3622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17395-B8BD-494D-A1D7-0CF6CA99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39B12-1517-4DB6-B972-B8592085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DC379-B496-47E0-BF64-DFC3A4F1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Operario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773BE-A97F-432A-821F-43FE8D45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Reporta la falla</a:t>
            </a:r>
          </a:p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desde QR o formulario.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F3A7F-E1C1-41CC-B8DB-85296F7D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3622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423F4-3AF9-4462-A950-F4B7521B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52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99565"/>
          </a:solidFill>
          <a:ln xmlns:a="http://schemas.openxmlformats.org/drawingml/2006/main" w="9525">
            <a:solidFill>
              <a:srgbClr val="2995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3035B-9F42-40BF-B978-76A2327A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CBD74-121F-44B8-9509-62524E26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95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Técnico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A8B53-B91B-4DA3-AE9E-CE2076E4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Inicia, atiende y</a:t>
            </a:r>
          </a:p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cierra la orden.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63CC1-FE43-47AE-B5DE-1E5C8E6A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3622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BA2C2-C1C6-4CEE-B60E-4AAF5CA0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651B8"/>
          </a:solidFill>
          <a:ln xmlns:a="http://schemas.openxmlformats.org/drawingml/2006/main" w="9525">
            <a:solidFill>
              <a:srgbClr val="7651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46A45-4274-47D6-92AA-910E1973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02410-1EC0-4624-8BA8-797E3CFE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Ingeniero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82C22-9E55-461F-BD8B-8739B1E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Planifica, importa</a:t>
            </a:r>
          </a:p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y revisa indicadores.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AF26F-6A45-4848-ABDD-ECB05543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23622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B6CF0-9893-424B-B5E2-89B51608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69116"/>
          </a:solidFill>
          <a:ln xmlns:a="http://schemas.openxmlformats.org/drawingml/2006/main" w="9525">
            <a:solidFill>
              <a:srgbClr val="D6911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57093-8735-4EFF-BF8F-C2EC7565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511932-6B13-4041-BE20-12822F2A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95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Administrador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D4BD6-9C36-4ED9-9FA1-2028AA20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576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Gestiona usuarios</a:t>
            </a:r>
          </a:p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y datos maestros.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F4EA7-95EB-42BD-A7CF-5898806A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45B"/>
                </a:solidFill>
              </a:defRPr>
            </a:pPr>
            <a:r>
              <a:rPr sz="1500" b="1">
                <a:solidFill>
                  <a:srgbClr val="16345B"/>
                </a:solidFill>
              </a:rPr>
              <a:t>Resultado: cada acción queda vinculada a la máquina, área, orden y repuesto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1011053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93C181-5741-4196-86D2-F81128F3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BCB"/>
                </a:solidFill>
              </a:defRPr>
            </a:pPr>
            <a:r>
              <a:rPr sz="975" b="1">
                <a:solidFill>
                  <a:srgbClr val="1B8BCB"/>
                </a:solidFill>
              </a:rPr>
              <a:t>NAVEGACIÓN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502FC-C526-42B2-9945-A15CA354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El menú guía el trabajo diario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64033-BA91-4B8D-92A3-AA0A3A12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A"/>
                </a:solidFill>
              </a:defRPr>
            </a:pPr>
            <a:r>
              <a:rPr sz="1350" b="0">
                <a:solidFill>
                  <a:srgbClr val="5D718A"/>
                </a:solidFill>
              </a:rPr>
              <a:t>Elija el módulo según la tarea que necesita realizar.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2BB0F-3C5B-4F82-B5FA-CAB2A259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405DC-C330-4D13-87F7-CD7956A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MANUAL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4FD86-5121-46E4-8AF3-ADB84808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D1D99-214E-4EDB-88CA-CB3F2161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04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411FA-3DCA-43DA-B631-9DA93C63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36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30643-81D4-450F-919E-3D2F0D43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145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Ver alertas, KPIs e historial.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3D1A9-D9FB-4BE9-8E27-2830B01D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6700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6DA81-D975-441B-B27B-E8470373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304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74B91-FDA3-4FFA-8D8A-356E17F4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Reportes de planta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04D32-F0AD-4CBE-8C68-9F26F6FA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03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Registrar una incidencia o abrir el reporte QR.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E7891-F5AA-4EEE-8ABA-FC91C24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5280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D4917-06E8-4C35-A8C8-CBC8FF68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304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30557-0361-4448-8E56-B1823EFC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Órdenes y planificación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0D2B5-D53C-4B00-86D3-8D085148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861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Atender correctivos y programar preventivos.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6F393-9D99-4801-9DB8-5CA488A2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3860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4D08A-CACA-4D56-9387-E2B2DCCB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304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2BF4A-0372-44D0-8937-AE3FE066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910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Áreas y máquinas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8FB12-73A8-4DFA-9C67-CBA4DB47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719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Ubicar activos, consultar ficha y QR.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D08E9-BBA0-4524-8D12-343EC990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2440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62D575-EDA8-4226-BB7B-08378705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304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8B840-174B-4CD2-8DE3-1CB44643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768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Repuestos e importaciones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304136-96A2-4126-9C63-77D1E61E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577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Controlar abastecimiento, solicitudes y archivos Excel.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B75EB-28AA-47F5-9B34-9385E58A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1020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270A2D-7E20-4DEA-A17D-EBA03C7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FF4FF"/>
          </a:solidFill>
          <a:ln xmlns:a="http://schemas.openxmlformats.org/drawingml/2006/main" w="9525">
            <a:solidFill>
              <a:srgbClr val="DFF4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FC219-7E99-401B-9145-13F2C70B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669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8BCB"/>
                </a:solidFill>
              </a:defRPr>
            </a:pPr>
            <a:r>
              <a:rPr sz="900" b="1">
                <a:solidFill>
                  <a:srgbClr val="1B8BCB"/>
                </a:solidFill>
              </a:rPr>
              <a:t>EMPIEZA AQUÍ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9EFD44-49F1-4155-A29C-AFC65B8A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Identifique si va a</a:t>
            </a:r>
          </a:p>
          <a:p xmlns:a="http://schemas.openxmlformats.org/drawingml/2006/main">
            <a:pPr algn="ctr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reportar, atender o</a:t>
            </a:r>
          </a:p>
          <a:p xmlns:a="http://schemas.openxmlformats.org/drawingml/2006/main">
            <a:pPr algn="ctr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consultar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34442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29D3CD-1E66-4D38-BD67-19CEA121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BCB"/>
                </a:solidFill>
              </a:defRPr>
            </a:pPr>
            <a:r>
              <a:rPr sz="975" b="1">
                <a:solidFill>
                  <a:srgbClr val="1B8BCB"/>
                </a:solidFill>
              </a:rPr>
              <a:t>PASO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11204-8F1E-4A1D-A1D1-3EF309D4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Revisa el panel de control antes de intervenir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B690A-8F78-464A-89D8-6B0E62A2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A"/>
                </a:solidFill>
              </a:defRPr>
            </a:pPr>
            <a:r>
              <a:rPr sz="1350" b="0">
                <a:solidFill>
                  <a:srgbClr val="5D718A"/>
                </a:solidFill>
              </a:rPr>
              <a:t>El Dashboard permite reconocer qué requiere atención y qué información ya está disponible.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53D11-C13B-4E2A-8B51-378AF4C3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66BF8-ECDB-482F-B24D-F2594EBF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MANUAL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26350-14FC-41F7-ACE1-B5F20EC5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9FA2B-37C9-4E4A-AD7F-65812EE6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438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CEB6A-A0B5-441F-A207-A82CC378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53C35-5F77-42E8-B833-DC0A6EC6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7650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703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B8D24-FB35-4122-B8DF-CF9AFB4E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18A"/>
                </a:solidFill>
              </a:defRPr>
            </a:pPr>
            <a:r>
              <a:rPr sz="1050" b="0">
                <a:solidFill>
                  <a:srgbClr val="5D718A"/>
                </a:solidFill>
              </a:rPr>
              <a:t>Máquinas registradas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DEF4B-D6A7-482E-8C83-88512189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2438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9ACB0-F5A9-449C-87DF-AEF9309F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524B"/>
          </a:solidFill>
          <a:ln xmlns:a="http://schemas.openxmlformats.org/drawingml/2006/main" w="9525">
            <a:solidFill>
              <a:srgbClr val="D652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86106-E7AE-4127-8BAE-8A14A068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FD884-E59F-4657-924F-98C526B8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18A"/>
                </a:solidFill>
              </a:defRPr>
            </a:pPr>
            <a:r>
              <a:rPr sz="1050" b="0">
                <a:solidFill>
                  <a:srgbClr val="5D718A"/>
                </a:solidFill>
              </a:rPr>
              <a:t>Máquinas paradas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EF57F-E118-479A-A1B7-7FABBD14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86000"/>
            <a:ext cx="2438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53D1B-B777-4D7E-9D98-D6A7775E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9116"/>
          </a:solidFill>
          <a:ln xmlns:a="http://schemas.openxmlformats.org/drawingml/2006/main" w="9525">
            <a:solidFill>
              <a:srgbClr val="D691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D6825-3C6A-47A1-8552-E73BA4EC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D6FF0-9562-4B19-A898-4F6CBD61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18A"/>
                </a:solidFill>
              </a:defRPr>
            </a:pPr>
            <a:r>
              <a:rPr sz="1050" b="0">
                <a:solidFill>
                  <a:srgbClr val="5D718A"/>
                </a:solidFill>
              </a:rPr>
              <a:t>Repuestos bajo mínimo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6C3C7-7B28-4F3D-8FF1-428121ED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86000"/>
            <a:ext cx="2438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59C39-F454-40C6-B627-0BBF775F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651B8"/>
          </a:solidFill>
          <a:ln xmlns:a="http://schemas.openxmlformats.org/drawingml/2006/main" w="9525">
            <a:solidFill>
              <a:srgbClr val="7651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DCBFB-C7D3-44AD-8978-9BAAC2F4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7650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1A29D-8848-498B-9791-520A72DE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18A"/>
                </a:solidFill>
              </a:defRPr>
            </a:pPr>
            <a:r>
              <a:rPr sz="1050" b="0">
                <a:solidFill>
                  <a:srgbClr val="5D718A"/>
                </a:solidFill>
              </a:rPr>
              <a:t>Fallas abiertas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F934D-874B-4CEC-95F0-0560C83F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68580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FF4FF"/>
          </a:solidFill>
          <a:ln xmlns:a="http://schemas.openxmlformats.org/drawingml/2006/main" w="9525">
            <a:solidFill>
              <a:srgbClr val="DFF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631248-DE2B-4133-9456-FD66A929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Qué mirar primero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093CAA-106F-4562-A39F-107A2569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A6B23-9B57-4C86-9467-96096ACE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291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Máquinas paradas y su motivo.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306CB-5030-4DAE-ADBE-DEEF4B32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116"/>
          </a:solidFill>
          <a:ln xmlns:a="http://schemas.openxmlformats.org/drawingml/2006/main" w="9525">
            <a:solidFill>
              <a:srgbClr val="D6911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977360-C68B-4563-BC2F-9A64CABA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91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Repuestos bajo mínimo o sin verificar.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08D5DE-9D58-432E-9627-5B94AEC2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10050"/>
            <a:ext cx="38100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0856BF-4C62-4BBD-9A57-3CD0AD94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9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KPIs e historial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EF925-EFCB-4295-9371-586988F7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18A"/>
                </a:solidFill>
              </a:defRPr>
            </a:pPr>
            <a:r>
              <a:rPr sz="1275" b="0">
                <a:solidFill>
                  <a:srgbClr val="5D718A"/>
                </a:solidFill>
              </a:rPr>
              <a:t>Filtra las actividades por día, semana, mes, año o todo el historial.</a:t>
            </a:r>
          </a:p>
        </p:txBody>
      </p:sp>
    </p:spTree>
    <p:extLst>
      <p:ext uri="{BB962C8B-B14F-4D97-AF65-F5344CB8AC3E}">
        <p14:creationId xmlns:p14="http://schemas.microsoft.com/office/powerpoint/2010/main" val="48107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C6C632-6FE4-473A-AAD0-EBFC504B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BCB"/>
                </a:solidFill>
              </a:defRPr>
            </a:pPr>
            <a:r>
              <a:rPr sz="975" b="1">
                <a:solidFill>
                  <a:srgbClr val="1B8BCB"/>
                </a:solidFill>
              </a:rPr>
              <a:t>PASO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DD5D2-AC58-4147-B001-18BC2D77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Reporta una falla desde la máquina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AD6E1-FED9-4B8F-983C-91828014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A"/>
                </a:solidFill>
              </a:defRPr>
            </a:pPr>
            <a:r>
              <a:rPr sz="1350" b="0">
                <a:solidFill>
                  <a:srgbClr val="5D718A"/>
                </a:solidFill>
              </a:rPr>
              <a:t>El QR abre el equipo correcto para evitar errores al seleccionar el activo.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82A22-627B-4BE6-A8B7-23841A34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E7C17-300B-43AB-9455-95CE6E01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MANUAL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1A464-128A-4AC0-966B-5FF948D8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C30F7-55F4-43BC-9E64-0F59F3B7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476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A911C-6274-4E24-B722-6FBA43B0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838B6-2E3B-4156-917E-DAE8B242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B01DB-8F50-4E03-9771-09B70ED6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Escanea el QR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ED017-C864-4E0F-AF18-A09BA33A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A"/>
                </a:solidFill>
              </a:defRPr>
            </a:pPr>
            <a:r>
              <a:rPr sz="975" b="0">
                <a:solidFill>
                  <a:srgbClr val="5D718A"/>
                </a:solidFill>
              </a:rPr>
              <a:t>Ubica el código en la ficha o la máquina.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600F8-F646-4A5E-8289-9121AFE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476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31C97-AF64-4EE7-BDD8-279FAFF4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527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99565"/>
          </a:solidFill>
          <a:ln xmlns:a="http://schemas.openxmlformats.org/drawingml/2006/main" w="9525">
            <a:solidFill>
              <a:srgbClr val="2995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B51BA-B9C3-4506-9F24-FDD895BF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193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D5A61-DF96-4EC3-B45D-18DBFBEB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480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Completa el reporte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F505D-5431-4E20-8F33-14081497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813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A"/>
                </a:solidFill>
              </a:defRPr>
            </a:pPr>
            <a:r>
              <a:rPr sz="975" b="0">
                <a:solidFill>
                  <a:srgbClr val="5D718A"/>
                </a:solidFill>
              </a:rPr>
              <a:t>Elige área, máquina, prioridad y fecha.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53398-6DA0-49F5-9BEB-727BD430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476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D1922-F25C-4818-8E4B-24572E1C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527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69116"/>
          </a:solidFill>
          <a:ln xmlns:a="http://schemas.openxmlformats.org/drawingml/2006/main" w="9525">
            <a:solidFill>
              <a:srgbClr val="D691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A1B35-FD72-45DF-A2F4-79C88D71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193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4FBC2-6A4E-40AC-91C1-C25102CB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480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Adjunta evidencia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50ABC-228D-48AC-90D8-E90EC404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A"/>
                </a:solidFill>
              </a:defRPr>
            </a:pPr>
            <a:r>
              <a:rPr sz="975" b="0">
                <a:solidFill>
                  <a:srgbClr val="5D718A"/>
                </a:solidFill>
              </a:rPr>
              <a:t>Describe lo observado y sube una foto.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8F1BA-D6F5-486B-A4E9-80CD019E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81250"/>
            <a:ext cx="2476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8FB5F-D800-4B21-9ADE-F80C7850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7651B8"/>
          </a:solidFill>
          <a:ln xmlns:a="http://schemas.openxmlformats.org/drawingml/2006/main" w="9525">
            <a:solidFill>
              <a:srgbClr val="7651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9FDEF-27B7-406F-81EB-6268B67B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B2A5B-5261-4FA0-8A31-B80ECB38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Envía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124EF8-73DB-4B2B-8BAF-E6D5C8A7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813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A"/>
                </a:solidFill>
              </a:defRPr>
            </a:pPr>
            <a:r>
              <a:rPr sz="975" b="0">
                <a:solidFill>
                  <a:srgbClr val="5D718A"/>
                </a:solidFill>
              </a:rPr>
              <a:t>La incidencia pasa a la bandeja técnica.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53CAF-DD62-43A3-8625-4EC77545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14875"/>
            <a:ext cx="8877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C3A8E-5384-4D5C-A73D-7927A8FC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0150"/>
            <a:ext cx="828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45B"/>
                </a:solidFill>
              </a:defRPr>
            </a:pPr>
            <a:r>
              <a:rPr sz="1350" b="1">
                <a:solidFill>
                  <a:srgbClr val="16345B"/>
                </a:solidFill>
              </a:rPr>
              <a:t>Prioridad: Baja = programable · Media = revisión · Alta = atención prioritaria · Crítica = parada o riesgo.</a:t>
            </a:r>
          </a:p>
        </p:txBody>
      </p:sp>
    </p:spTree>
    <p:extLst>
      <p:ext uri="{BB962C8B-B14F-4D97-AF65-F5344CB8AC3E}">
        <p14:creationId xmlns:p14="http://schemas.microsoft.com/office/powerpoint/2010/main" val="1072225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82E25-3CDD-4FDB-8C30-ACAF882B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BCB"/>
                </a:solidFill>
              </a:defRPr>
            </a:pPr>
            <a:r>
              <a:rPr sz="975" b="1">
                <a:solidFill>
                  <a:srgbClr val="1B8BCB"/>
                </a:solidFill>
              </a:rPr>
              <a:t>PASO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92A63-F502-4179-8291-EB5E90DE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El técnico documenta toda la atención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A0C27-3929-482B-B93F-7BC7AA07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A"/>
                </a:solidFill>
              </a:defRPr>
            </a:pPr>
            <a:r>
              <a:rPr sz="1350" b="0">
                <a:solidFill>
                  <a:srgbClr val="5D718A"/>
                </a:solidFill>
              </a:rPr>
              <a:t>La orden no solo cambia de estado: conserva hora, evidencia, diagnóstico, trabajo y repuestos.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4A8E8-D627-494A-B51F-37736857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65BBA-5E70-43C7-94EC-5289D682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MANUAL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D638B-73A4-4EBD-938C-18F61879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767C4-B44B-4720-9846-33B4FD09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4574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5368A-FE5F-44DF-BC8E-5E2AE3E8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8BCB"/>
                </a:solidFill>
              </a:defRPr>
            </a:pPr>
            <a:r>
              <a:rPr sz="2100" b="1">
                <a:solidFill>
                  <a:srgbClr val="1B8BC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63208-73E6-43EA-AB0D-23BDB7AD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Iniciar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43A70-A090-43BF-B9C7-12B78D10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Registra hora real y activa el cronómetro.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76206-7684-49C9-B4C4-4E69A691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24574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A9479-22A0-4C2A-81CC-A199585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9116"/>
                </a:solidFill>
              </a:defRPr>
            </a:pPr>
            <a:r>
              <a:rPr sz="2100" b="1">
                <a:solidFill>
                  <a:srgbClr val="D69116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AD842-7618-48EF-839E-131019A8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Diagnosticar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E4D4A-5B4D-46BF-96D3-C8E4E562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Indica causa: mecánica, eléctrica, electrónica u otra.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701E7-5369-4A3B-BC8D-A9BCD670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33625"/>
            <a:ext cx="24574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010E5-E1D8-4675-9117-45696CA1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651B8"/>
                </a:solidFill>
              </a:defRPr>
            </a:pPr>
            <a:r>
              <a:rPr sz="2100" b="1">
                <a:solidFill>
                  <a:srgbClr val="7651B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5CD70-C48C-4419-B174-C6802792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Ejecutar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75BA6-C0D1-4F97-AB90-7B8313D5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Registra trabajo realizado y repuestos usados.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AFE9A-CB2D-441F-BAC8-98008769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33625"/>
            <a:ext cx="24574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CB3B1-3968-4C0F-A3E8-A32DACEE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336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99565"/>
                </a:solidFill>
              </a:defRPr>
            </a:pPr>
            <a:r>
              <a:rPr sz="2100" b="1">
                <a:solidFill>
                  <a:srgbClr val="299565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8A780-8C03-426B-8FF6-E204DC89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67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Cerrar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95C12-65AD-47AF-844C-67ACCD86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Sube foto final, prueba y hora de cierre.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F8EB7-DDE9-4838-B272-82FE414C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45B"/>
                </a:solidFill>
              </a:defRPr>
            </a:pPr>
            <a:r>
              <a:rPr sz="1425" b="1">
                <a:solidFill>
                  <a:srgbClr val="16345B"/>
                </a:solidFill>
              </a:rPr>
              <a:t>Si la prueba final es operativa, la máquina vuelve a ese estado. Si requiere seguimiento, queda registrada para revisión.</a:t>
            </a:r>
          </a:p>
        </p:txBody>
      </p:sp>
    </p:spTree>
    <p:extLst>
      <p:ext uri="{BB962C8B-B14F-4D97-AF65-F5344CB8AC3E}">
        <p14:creationId xmlns:p14="http://schemas.microsoft.com/office/powerpoint/2010/main" val="2085821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DE364-4559-4C7E-A061-1664ACDA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BCB"/>
                </a:solidFill>
              </a:defRPr>
            </a:pPr>
            <a:r>
              <a:rPr sz="975" b="1">
                <a:solidFill>
                  <a:srgbClr val="1B8BCB"/>
                </a:solidFill>
              </a:rPr>
              <a:t>PASO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1E374-8336-46CD-BE05-D3D728C9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Planifica mantenimientos sin perder el 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2C663-B137-4548-A5D9-393B0CFA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A"/>
                </a:solidFill>
              </a:defRPr>
            </a:pPr>
            <a:r>
              <a:rPr sz="1350" b="0">
                <a:solidFill>
                  <a:srgbClr val="5D718A"/>
                </a:solidFill>
              </a:rPr>
              <a:t>Usa el centro de mantenimiento para organizar correctivos y tareas programadas.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B85D9-7233-4822-8B18-C9C92EA7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628FA-92ED-4D67-91C1-06F01390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MANUAL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05420-0104-4C63-B667-9BB1A168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B308F-FFC1-4D83-AB96-759B4CCF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57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4DF87-179D-4A13-B7EC-F60314FF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143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F683D-AEF3-4265-9292-FF0F2C00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2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Preventivo planificado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B1C86-93B1-4684-B575-C8D4A639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956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Se agenda y se controla por fecha.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B63FE-50E1-4A71-A53A-ED495ABA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5257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A8600-4A87-438D-A30F-40111611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1143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565"/>
          </a:solidFill>
          <a:ln xmlns:a="http://schemas.openxmlformats.org/drawingml/2006/main" w="9525">
            <a:solidFill>
              <a:srgbClr val="2995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58B31-BB0B-4F74-B3A4-D3141985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2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Autónomo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D911B-079F-4B64-861F-846C6FE4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956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Checklist diario del personal operativo.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D9E38-C9C5-45DE-9622-67613586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57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C31FC-00F2-4756-9ADE-1DC4F263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143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B8"/>
          </a:solidFill>
          <a:ln xmlns:a="http://schemas.openxmlformats.org/drawingml/2006/main" w="9525">
            <a:solidFill>
              <a:srgbClr val="7651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D9661-CC93-4FA5-8584-D98538AD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528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Predictivo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77608-CF4A-427F-BA3E-7E0190FD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243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Acción según condición o medición.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0AA96-51DB-492A-AC80-16020C77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5257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6DE90-0524-42D1-9BC8-35D192C9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1143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116"/>
          </a:solidFill>
          <a:ln xmlns:a="http://schemas.openxmlformats.org/drawingml/2006/main" w="9525">
            <a:solidFill>
              <a:srgbClr val="D691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8EDBB-E028-4A60-9B43-3CA11B8E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528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Proactivo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C35E1-0A3F-4A3D-A25C-FAE79AA7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3243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Mejora orientada a eliminar causa raíz.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35032-6B3E-4682-B2D8-3F91F63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45B"/>
                </a:solidFill>
              </a:defRPr>
            </a:pPr>
            <a:r>
              <a:rPr sz="1425" b="1">
                <a:solidFill>
                  <a:srgbClr val="16345B"/>
                </a:solidFill>
              </a:rPr>
              <a:t>Puedes filtrar por área, prioridad y estado para ordenar la bandeja de trabajo.</a:t>
            </a:r>
          </a:p>
        </p:txBody>
      </p:sp>
    </p:spTree>
    <p:extLst>
      <p:ext uri="{BB962C8B-B14F-4D97-AF65-F5344CB8AC3E}">
        <p14:creationId xmlns:p14="http://schemas.microsoft.com/office/powerpoint/2010/main" val="85752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80515-651E-49D9-91C4-CD4B0F27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BCB"/>
                </a:solidFill>
              </a:defRPr>
            </a:pPr>
            <a:r>
              <a:rPr sz="975" b="1">
                <a:solidFill>
                  <a:srgbClr val="1B8BCB"/>
                </a:solidFill>
              </a:rPr>
              <a:t>PASO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EA87F-B3C4-433C-BF9F-5779C480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Ubica la máquina antes de actuar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10261-238F-4EEA-B9D4-46237FE3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A"/>
                </a:solidFill>
              </a:defRPr>
            </a:pPr>
            <a:r>
              <a:rPr sz="1350" b="0">
                <a:solidFill>
                  <a:srgbClr val="5D718A"/>
                </a:solidFill>
              </a:rPr>
              <a:t>La estructura planta → área → máquina evita registros duplicados y permite conocer el contexto del activo.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B3E08-7158-4050-8EB4-68FED464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A06B3-BFCE-462E-8516-67B6BB2C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MANUAL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3C711-DC28-40D1-AF0B-91A49249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86FFF-42C1-4D10-8728-34CE2416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238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DFF4FF"/>
          </a:solidFill>
          <a:ln xmlns:a="http://schemas.openxmlformats.org/drawingml/2006/main" w="9525">
            <a:solidFill>
              <a:srgbClr val="DFF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C5985-5515-4524-A355-8382B5E3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8BCB"/>
                </a:solidFill>
              </a:defRPr>
            </a:pPr>
            <a:r>
              <a:rPr sz="1650" b="1">
                <a:solidFill>
                  <a:srgbClr val="1B8BCB"/>
                </a:solidFill>
              </a:rPr>
              <a:t>PLANTA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30E0C-D12E-4171-A475-EA96992D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Incalpaca TPX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C3553-809D-4573-8CB0-41157978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718A"/>
                </a:solidFill>
              </a:defRPr>
            </a:pPr>
            <a:r>
              <a:rPr sz="1200" b="1">
                <a:solidFill>
                  <a:srgbClr val="5D718A"/>
                </a:solidFill>
              </a:rPr>
              <a:t>ÁREA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65848-F58E-4AB5-B4A4-C1C05C2C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Acabado de Telas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4FB68-7EDC-4606-B607-7551390F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7239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9A791-C9AF-497B-AD08-A5DCC33B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Ficha de máquina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C258E-9135-40DA-B6BA-1ECD243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C0C28-ED72-44E5-8354-F4E9DD47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956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45B"/>
                </a:solidFill>
              </a:defRPr>
            </a:pPr>
            <a:r>
              <a:rPr sz="1350" b="0">
                <a:solidFill>
                  <a:srgbClr val="16345B"/>
                </a:solidFill>
              </a:rPr>
              <a:t>Nombre · Marca · Modelo · Estado · Código interno · Descripción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E495B-1EF7-48FE-8F14-72AD939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8BCB"/>
                </a:solidFill>
              </a:defRPr>
            </a:pPr>
            <a:r>
              <a:rPr sz="1425" b="1">
                <a:solidFill>
                  <a:srgbClr val="1B8BCB"/>
                </a:solidFill>
              </a:rPr>
              <a:t>Código QR para identificación y reporte desde planta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E006E-F536-4DDE-9708-8BCEF5B8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19450"/>
            <a:ext cx="9048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0F8CE-E312-46B0-91AD-F9E8EC89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956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QR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4E778-A076-4687-98EE-275E300B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45B"/>
                </a:solidFill>
              </a:defRPr>
            </a:pPr>
            <a:r>
              <a:rPr sz="1350" b="1">
                <a:solidFill>
                  <a:srgbClr val="16345B"/>
                </a:solidFill>
              </a:rPr>
              <a:t>Consejo: antes de crear un área o máquina, busca por código y nombre para evitar duplicados.</a:t>
            </a:r>
          </a:p>
        </p:txBody>
      </p:sp>
    </p:spTree>
    <p:extLst>
      <p:ext uri="{BB962C8B-B14F-4D97-AF65-F5344CB8AC3E}">
        <p14:creationId xmlns:p14="http://schemas.microsoft.com/office/powerpoint/2010/main" val="8047477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F8CCB-4D3F-482A-9701-E2CFEC3D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BCB"/>
                </a:solidFill>
              </a:defRPr>
            </a:pPr>
            <a:r>
              <a:rPr sz="975" b="1">
                <a:solidFill>
                  <a:srgbClr val="1B8BCB"/>
                </a:solidFill>
              </a:rPr>
              <a:t>PASO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F7C68-1177-42CD-B714-8548F9D6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Gestiona las máquinas paradas con una causa clara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23F43-4ACE-4163-BCA3-B0B977A2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A"/>
                </a:solidFill>
              </a:defRPr>
            </a:pPr>
            <a:r>
              <a:rPr sz="1350" b="0">
                <a:solidFill>
                  <a:srgbClr val="5D718A"/>
                </a:solidFill>
              </a:rPr>
              <a:t>Este módulo concentra los equipos detenidos o en mantenimiento para priorizar el retorno a operación.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DE8C7-B1A3-4A9D-9EE6-92D00EFA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120AA-D70D-4D97-8F2A-94DF55A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MANUAL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32D5E-9F85-4697-A7D0-7E088C76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038B5-978B-4B76-896B-C096458F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457450" cy="24765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B4905-1746-430F-B1C5-9793D4D5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Máquina / área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024B4-215D-4CBF-A3FE-A70C537D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2038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Identifica dónde está el impacto.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18615-9073-4DBE-ABEC-C40DC1F8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2457450" cy="24765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D538A-6B84-4FF2-A169-542E5DA0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71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Motivo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A92D3-EB22-413E-A3F3-9F590426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86125"/>
            <a:ext cx="2038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Falla, orden pendiente o espera de repuesto.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E2335-8317-4E85-84FD-29262681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86000"/>
            <a:ext cx="2457450" cy="24765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D631D-11F0-4BDF-A76D-3D5D38FE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Estado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8FB8D-0F82-444D-A46B-FB07C2D4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86125"/>
            <a:ext cx="2038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Pendiente · en atención · esperando repuesto · resuelta.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D0790-AB77-4D9A-AB8B-A2FC1119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86000"/>
            <a:ext cx="2457450" cy="24765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E7389-BAC5-41DD-B23B-C838A05D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Acción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8C18C-1DC1-4FC8-8C32-E1FBB2A6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86125"/>
            <a:ext cx="2038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A"/>
                </a:solidFill>
              </a:defRPr>
            </a:pPr>
            <a:r>
              <a:rPr sz="1200" b="0">
                <a:solidFill>
                  <a:srgbClr val="5D718A"/>
                </a:solidFill>
              </a:rPr>
              <a:t>Abrir orden, solicitar repuesto o registrar avance.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C471F-6056-4033-8AF4-C3B68397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905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FF4FF"/>
          </a:solidFill>
          <a:ln xmlns:a="http://schemas.openxmlformats.org/drawingml/2006/main" w="9525">
            <a:solidFill>
              <a:srgbClr val="DFF4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864FA-86E6-47FD-9C5B-A2F35A02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8BCB"/>
                </a:solidFill>
              </a:defRPr>
            </a:pPr>
            <a:r>
              <a:rPr sz="900" b="1">
                <a:solidFill>
                  <a:srgbClr val="1B8BCB"/>
                </a:solidFill>
              </a:rPr>
              <a:t>PRIORIDAD OPERATIVA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6472E0-FC8A-413E-AF68-E8493343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959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45B"/>
                </a:solidFill>
              </a:defRPr>
            </a:pPr>
            <a:r>
              <a:rPr sz="1350" b="1">
                <a:solidFill>
                  <a:srgbClr val="16345B"/>
                </a:solidFill>
              </a:rPr>
              <a:t>Una parada sin diagnóstico o sin solicitud de repuesto no debe quedar sin seguimiento.</a:t>
            </a:r>
          </a:p>
        </p:txBody>
      </p:sp>
    </p:spTree>
    <p:extLst>
      <p:ext uri="{BB962C8B-B14F-4D97-AF65-F5344CB8AC3E}">
        <p14:creationId xmlns:p14="http://schemas.microsoft.com/office/powerpoint/2010/main" val="230984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98CC5-0011-4380-8841-D0619F52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BCB"/>
                </a:solidFill>
              </a:defRPr>
            </a:pPr>
            <a:r>
              <a:rPr sz="975" b="1">
                <a:solidFill>
                  <a:srgbClr val="1B8BCB"/>
                </a:solidFill>
              </a:rPr>
              <a:t>PASO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B24C3-6BC5-4B30-80B1-62983A5C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Controla el repuesto desde la necesidad hasta la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ED4FF-0597-47B8-B60E-037F5E9D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A"/>
                </a:solidFill>
              </a:defRPr>
            </a:pPr>
            <a:r>
              <a:rPr sz="1350" b="0">
                <a:solidFill>
                  <a:srgbClr val="5D718A"/>
                </a:solidFill>
              </a:rPr>
              <a:t>El catálogo une familia técnica, área, criticidad, stock, consumo y solicitud.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B5E74-A121-444E-8501-23E92947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113FA-DF67-4F8B-82AF-B3349E42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MANUAL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54C66-1E57-4E53-9E18-1DC95B87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F8CB2-BB66-4B34-94FE-E86513A6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28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CD224-0CC3-40CA-91E3-9E9429CF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08E28-AE5F-4C9F-A983-D3D15D22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98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Buscar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F2096-9F71-4128-874C-8CD7C646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9825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18A"/>
                </a:solidFill>
              </a:defRPr>
            </a:pPr>
            <a:r>
              <a:rPr sz="1275" b="0">
                <a:solidFill>
                  <a:srgbClr val="5D718A"/>
                </a:solidFill>
              </a:rPr>
              <a:t>Código, descripción o ubicación.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53FBD-8D6C-4112-82C9-0D585150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28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75857-E4C7-4DA9-A3BC-997D5CF3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69116"/>
          </a:solidFill>
          <a:ln xmlns:a="http://schemas.openxmlformats.org/drawingml/2006/main" w="9525">
            <a:solidFill>
              <a:srgbClr val="D691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6F8B9-D303-46D7-8126-327AB8BB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527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Clasificar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0399E-5A0E-4918-86FD-D4C9E522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52775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18A"/>
                </a:solidFill>
              </a:defRPr>
            </a:pPr>
            <a:r>
              <a:rPr sz="1275" b="0">
                <a:solidFill>
                  <a:srgbClr val="5D718A"/>
                </a:solidFill>
              </a:rPr>
              <a:t>Mecánico, eléctrico o electrónico.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0E474-9048-44D6-8B3F-86F0B40D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28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E3360-F5AC-4F6B-9ED2-D6C56374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99565"/>
          </a:solidFill>
          <a:ln xmlns:a="http://schemas.openxmlformats.org/drawingml/2006/main" w="9525">
            <a:solidFill>
              <a:srgbClr val="2995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15796-5881-40D8-BC8E-78B6D9D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95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Verificar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BD387-2D52-4A33-9AEA-3C339748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95725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18A"/>
                </a:solidFill>
              </a:defRPr>
            </a:pPr>
            <a:r>
              <a:rPr sz="1275" b="0">
                <a:solidFill>
                  <a:srgbClr val="5D718A"/>
                </a:solidFill>
              </a:rPr>
              <a:t>Confirma stock físico antes de decidir.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F4D9E-C1AC-426A-8FC8-608CAAC2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28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BE3EB-C2EA-42E2-BB48-A181C0ED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7651B8"/>
          </a:solidFill>
          <a:ln xmlns:a="http://schemas.openxmlformats.org/drawingml/2006/main" w="9525">
            <a:solidFill>
              <a:srgbClr val="7651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E42E3-CAF6-41A1-8C9F-0A5DB1EA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386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Solicitar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9747A-DE08-4EB0-B2FE-00303211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38675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18A"/>
                </a:solidFill>
              </a:defRPr>
            </a:pPr>
            <a:r>
              <a:rPr sz="1275" b="0">
                <a:solidFill>
                  <a:srgbClr val="5D718A"/>
                </a:solidFill>
              </a:rPr>
              <a:t>Área → máquina opcional → repuesto → cantidad.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67644-CF74-4173-A994-895146E3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45B"/>
                </a:solidFill>
              </a:defRPr>
            </a:pPr>
            <a:r>
              <a:rPr sz="1425" b="1">
                <a:solidFill>
                  <a:srgbClr val="16345B"/>
                </a:solidFill>
              </a:rPr>
              <a:t>El stock se descuenta al confirmar la entrega o salida registrada; no al crear la solicitud.</a:t>
            </a:r>
          </a:p>
        </p:txBody>
      </p:sp>
    </p:spTree>
    <p:extLst>
      <p:ext uri="{BB962C8B-B14F-4D97-AF65-F5344CB8AC3E}">
        <p14:creationId xmlns:p14="http://schemas.microsoft.com/office/powerpoint/2010/main" val="3272264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A95AF-F3C0-4407-AA75-2A127AB6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BCB"/>
                </a:solidFill>
              </a:defRPr>
            </a:pPr>
            <a:r>
              <a:rPr sz="975" b="1">
                <a:solidFill>
                  <a:srgbClr val="1B8BCB"/>
                </a:solidFill>
              </a:rPr>
              <a:t>PASO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CF1C8-2F2A-4D18-94D5-E3279286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Importa Excel de forma segura y exporta lo necesario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4CF9C-49F5-4133-BBB9-998E939B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A"/>
                </a:solidFill>
              </a:defRPr>
            </a:pPr>
            <a:r>
              <a:rPr sz="1350" b="0">
                <a:solidFill>
                  <a:srgbClr val="5D718A"/>
                </a:solidFill>
              </a:rPr>
              <a:t>La vista previa permite detectar duplicados y errores antes de guardar.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3D3B5-567B-43D0-A1B6-020CA590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387F2-777E-49D0-87D9-BDF3AB76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MANUAL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89E14-378F-4339-A47A-6BD31A0D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FB65D-3D91-4E3B-8B45-C194318A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428875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0BF8B-AB5D-4D5D-ADF1-C5BF8ADE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FD151-86DE-4DAD-9693-5C5BADBE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25B4C-35D3-40B3-A751-2371B61E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Elige catálogo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F4455-2EEF-436A-8F68-8F2447F1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A"/>
                </a:solidFill>
              </a:defRPr>
            </a:pPr>
            <a:r>
              <a:rPr sz="975" b="0">
                <a:solidFill>
                  <a:srgbClr val="5D718A"/>
                </a:solidFill>
              </a:rPr>
              <a:t>Áreas, máquinas, repuestos o mantenimientos.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CC27B-D079-4488-BEB4-F999DCA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2428875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8CEBC-C726-495B-ACA1-614D4622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69116"/>
          </a:solidFill>
          <a:ln xmlns:a="http://schemas.openxmlformats.org/drawingml/2006/main" w="9525">
            <a:solidFill>
              <a:srgbClr val="D691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BC3A9-6947-44D1-AFBB-1E69ABBD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4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97260-CBC8-4AF4-A895-2B15F261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Descarga plantilla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DBAFE-655D-406A-A1E2-03BA1099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A"/>
                </a:solidFill>
              </a:defRPr>
            </a:pPr>
            <a:r>
              <a:rPr sz="975" b="0">
                <a:solidFill>
                  <a:srgbClr val="5D718A"/>
                </a:solidFill>
              </a:rPr>
              <a:t>Conserva encabezados y códigos oficiales.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2AFB4-3AC5-4056-B46A-1B76201A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2428875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2E609-EF52-49F2-BBFE-EA875B4F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7651B8"/>
          </a:solidFill>
          <a:ln xmlns:a="http://schemas.openxmlformats.org/drawingml/2006/main" w="9525">
            <a:solidFill>
              <a:srgbClr val="7651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33910-2247-493C-B011-11B593D8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54462-8FC4-42B9-AC25-53F75BE1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Carga y valida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E862E-EB4A-4BA5-B770-3CDF4731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A"/>
                </a:solidFill>
              </a:defRPr>
            </a:pPr>
            <a:r>
              <a:rPr sz="975" b="0">
                <a:solidFill>
                  <a:srgbClr val="5D718A"/>
                </a:solidFill>
              </a:rPr>
              <a:t>Revisa crear, actualizar o rechazar.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4BF59-B92B-454B-8770-4AC99E50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05050"/>
            <a:ext cx="2428875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EE3768-D2BD-4095-A0D3-9D3476C3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99565"/>
          </a:solidFill>
          <a:ln xmlns:a="http://schemas.openxmlformats.org/drawingml/2006/main" w="9525">
            <a:solidFill>
              <a:srgbClr val="2995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BF5F5-026F-4375-A09C-8573873D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4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9A61D3-6AE5-484C-BB5C-6E6A8938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71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Procesa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DF3E33-3BDB-41C6-B3B2-98FDA7AF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0517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A"/>
                </a:solidFill>
              </a:defRPr>
            </a:pPr>
            <a:r>
              <a:rPr sz="975" b="0">
                <a:solidFill>
                  <a:srgbClr val="5D718A"/>
                </a:solidFill>
              </a:rPr>
              <a:t>Consulta el historial y descarga CSV.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1C27D-BB8E-4AB5-A027-6E146774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0125"/>
            <a:ext cx="9563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CFAF25-5AE5-4ABA-9BF8-98DE350F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Si una importación se realizó por error, el administrador puede eliminarla junto con los datos creados exclusivamente por ese archivo.</a:t>
            </a:r>
          </a:p>
        </p:txBody>
      </p:sp>
    </p:spTree>
    <p:extLst>
      <p:ext uri="{BB962C8B-B14F-4D97-AF65-F5344CB8AC3E}">
        <p14:creationId xmlns:p14="http://schemas.microsoft.com/office/powerpoint/2010/main" val="2058387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00EF0E-53D7-428F-A1F5-53B65E5F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BCB"/>
                </a:solidFill>
              </a:defRPr>
            </a:pPr>
            <a:r>
              <a:rPr sz="975" b="1">
                <a:solidFill>
                  <a:srgbClr val="1B8BCB"/>
                </a:solidFill>
              </a:rPr>
              <a:t>PASO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E838C-D1BC-4EB2-9DE7-63990547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Convierte registros en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3C2F4-FF27-4B40-85CE-84879373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A"/>
                </a:solidFill>
              </a:defRPr>
            </a:pPr>
            <a:r>
              <a:rPr sz="1350" b="0">
                <a:solidFill>
                  <a:srgbClr val="5D718A"/>
                </a:solidFill>
              </a:rPr>
              <a:t>Los KPIs y las tarjetas de historial muestran qué tipos de mantenimiento se registran y dónde se requiere atención.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2846E-4563-462B-99A2-1EA70BA3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C"/>
          </a:solidFill>
          <a:ln xmlns:a="http://schemas.openxmlformats.org/drawingml/2006/main" w="0">
            <a:solidFill>
              <a:srgbClr val="D4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24C2F-3524-4363-8B84-6E0869A3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MANUAL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9F322-6096-421C-AAC6-92CB91C3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4553F-4327-4A8F-8B91-B7FD3764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00050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4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C0A6B-E787-4277-8B81-816BAFF5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Historial por tipo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053F9-DB2E-4C58-89B9-9DE3B57D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45B"/>
                </a:solidFill>
              </a:defRPr>
            </a:pPr>
            <a:r>
              <a:rPr sz="1200" b="0">
                <a:solidFill>
                  <a:srgbClr val="16345B"/>
                </a:solidFill>
              </a:rPr>
              <a:t>Correctivo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11E2D-04B8-407F-8751-C2D5D054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62300"/>
            <a:ext cx="16668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524B"/>
          </a:solidFill>
          <a:ln xmlns:a="http://schemas.openxmlformats.org/drawingml/2006/main" w="9525">
            <a:solidFill>
              <a:srgbClr val="D652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FD5C1-79D6-479E-BBF4-A9BAE195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345B"/>
                </a:solidFill>
              </a:defRPr>
            </a:pPr>
            <a:r>
              <a:rPr sz="1050" b="1">
                <a:solidFill>
                  <a:srgbClr val="16345B"/>
                </a:solidFill>
              </a:rPr>
              <a:t>791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E8818-2475-4CD9-A22E-224994DA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45B"/>
                </a:solidFill>
              </a:defRPr>
            </a:pPr>
            <a:r>
              <a:rPr sz="1200" b="0">
                <a:solidFill>
                  <a:srgbClr val="16345B"/>
                </a:solidFill>
              </a:rPr>
              <a:t>Preventivo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346EF-23E9-4C2E-8B5C-687034B1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90925"/>
            <a:ext cx="362456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116"/>
          </a:solidFill>
          <a:ln xmlns:a="http://schemas.openxmlformats.org/drawingml/2006/main" w="9525">
            <a:solidFill>
              <a:srgbClr val="D691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7E25F-4DD2-44C1-8C70-A25B28A8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528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345B"/>
                </a:solidFill>
              </a:defRPr>
            </a:pPr>
            <a:r>
              <a:rPr sz="1050" b="1">
                <a:solidFill>
                  <a:srgbClr val="16345B"/>
                </a:solidFill>
              </a:rPr>
              <a:t>172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0B2D0-B325-4F66-86E6-F36672A4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45B"/>
                </a:solidFill>
              </a:defRPr>
            </a:pPr>
            <a:r>
              <a:rPr sz="1200" b="0">
                <a:solidFill>
                  <a:srgbClr val="16345B"/>
                </a:solidFill>
              </a:rPr>
              <a:t>Rutinario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BF053-208F-445F-BDDB-277AA946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19550"/>
            <a:ext cx="3048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7EED3-13E9-4D15-B6BC-A5819960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81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345B"/>
                </a:solidFill>
              </a:defRPr>
            </a:pPr>
            <a:r>
              <a:rPr sz="1050" b="1">
                <a:solidFill>
                  <a:srgbClr val="16345B"/>
                </a:solidFill>
              </a:rPr>
              <a:t>89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D955B-AFC1-4A8B-9AAB-8A8D94F2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45B"/>
                </a:solidFill>
              </a:defRPr>
            </a:pPr>
            <a:r>
              <a:rPr sz="1200" b="0">
                <a:solidFill>
                  <a:srgbClr val="16345B"/>
                </a:solidFill>
              </a:rPr>
              <a:t>Otros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D5128-9E05-4634-AE92-F661F09C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48175"/>
            <a:ext cx="3048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B8"/>
          </a:solidFill>
          <a:ln xmlns:a="http://schemas.openxmlformats.org/drawingml/2006/main" w="9525">
            <a:solidFill>
              <a:srgbClr val="7651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A4DE1-0942-4DC6-8208-7E51E261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100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345B"/>
                </a:solidFill>
              </a:defRPr>
            </a:pPr>
            <a:r>
              <a:rPr sz="1050" b="1">
                <a:solidFill>
                  <a:srgbClr val="16345B"/>
                </a:solidFill>
              </a:rPr>
              <a:t>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B7C30-FADF-4405-B45D-02154FED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647700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DFF4FF"/>
          </a:solidFill>
          <a:ln xmlns:a="http://schemas.openxmlformats.org/drawingml/2006/main" w="9525">
            <a:solidFill>
              <a:srgbClr val="DFF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17B9B4-82E5-48DA-9464-0F8F2BFB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71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Cómo interpretar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01D0A-628D-485C-A005-137D024C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71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A1028-FED0-45CB-AB21-84A8EA7E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242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Haz clic en una tarjeta para abrir el centro de mantenimiento con el tipo filtrado.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54B9A4-635E-4AD1-BFBC-B2A00A0D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116"/>
          </a:solidFill>
          <a:ln xmlns:a="http://schemas.openxmlformats.org/drawingml/2006/main" w="9525">
            <a:solidFill>
              <a:srgbClr val="D6911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036A8A-2328-42C0-89C2-1B9DD2CA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576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Filtra por día, semana, mes, año o historial completo.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136B02-EC54-4585-8704-45FEB1B6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38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565"/>
          </a:solidFill>
          <a:ln xmlns:a="http://schemas.openxmlformats.org/drawingml/2006/main" w="9525">
            <a:solidFill>
              <a:srgbClr val="2995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FEE46-E0CF-4D1A-805E-F162178A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910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Compara áreas cuando existan registros completos y validados.</a:t>
            </a:r>
          </a:p>
        </p:txBody>
      </p:sp>
    </p:spTree>
    <p:extLst>
      <p:ext uri="{BB962C8B-B14F-4D97-AF65-F5344CB8AC3E}">
        <p14:creationId xmlns:p14="http://schemas.microsoft.com/office/powerpoint/2010/main" val="20080384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C84497-7296-4544-A016-F115112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Al terminar cada actividad, deja el proceso completo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3F187-92C5-4E78-915E-08341908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BFA"/>
                </a:solidFill>
              </a:defRPr>
            </a:pPr>
            <a:r>
              <a:rPr sz="1425" b="0">
                <a:solidFill>
                  <a:srgbClr val="DDEBFA"/>
                </a:solidFill>
              </a:rPr>
              <a:t>Una operación bien registrada mejora la continuidad de producción y la calidad de la información.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3BBE3-79F0-4061-A929-E817ADA2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A8E5E-5AB8-49FC-8D60-3119DE8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D2593-C9D9-407A-9068-41568277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FB6C8-FF53-4F75-BE0E-422C5B48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289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Área y máquina correctas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1D0AD-A3D9-4564-A7DD-9157837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33625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D23C2-948F-43CC-BDA2-A5B2DAB5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6222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109C1-C023-4DBD-8328-90B854C1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4BFF6-C444-4BF2-A463-96616DDD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289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Evidencia antes y después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22520-EF3F-4B97-AD59-7980CFE4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99F00-14C6-414C-A952-1C2F843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C67EA-787E-4256-AD70-578334E3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7D4A5-C140-4D8A-85CF-B37F5BFE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Hora de inicio y cierre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47DF6-E2C9-469B-80E3-2A920B24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1C589-F2B0-4A88-9BB0-0B6011B9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74884-6FB1-4D9D-9FD5-2019A4B4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9A33D-E7A0-4800-9202-8352702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Diagnóstico y trabajo realizado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F7C4D-9496-43DD-A321-C0AA4FC5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5B33D-9091-4150-8B31-19132B53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D3FA3-72B6-45DF-841E-3E6250EE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76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43797E-5816-47D8-8767-1F096E7A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147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Repuestos usados registrados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49097-FDA8-4D52-9A23-1B88D47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B650A-B67F-49EB-A3D0-CB8A9EE2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B8BCB"/>
          </a:solidFill>
          <a:ln xmlns:a="http://schemas.openxmlformats.org/drawingml/2006/main" w="9525">
            <a:solidFill>
              <a:srgbClr val="1B8B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DE4EE9-B4F0-4DED-B1BE-F57E0265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76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44A139-15F2-42F6-B79E-716E9454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147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Estado final validado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363553-03FB-4010-9B51-0442B642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D9F4"/>
                </a:solidFill>
              </a:defRPr>
            </a:pPr>
            <a:r>
              <a:rPr sz="1200" b="1">
                <a:solidFill>
                  <a:srgbClr val="BFD9F4"/>
                </a:solidFill>
              </a:rPr>
              <a:t>INCAMAT · Reportar · Atender · Controlar · Analizar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FEFDE-61E0-44E7-850E-9A10FCB7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718A"/>
                </a:solidFill>
              </a:defRPr>
            </a:pPr>
            <a:r>
              <a:rPr sz="750" b="1">
                <a:solidFill>
                  <a:srgbClr val="5D718A"/>
                </a:solidFill>
              </a:rPr>
              <a:t>INCAMAT · FIN DEL MANUAL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70AE8A-82C6-4098-8E5B-440273B1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18A"/>
                </a:solidFill>
              </a:defRPr>
            </a:pPr>
            <a:r>
              <a:rPr sz="825" b="1">
                <a:solidFill>
                  <a:srgbClr val="5D718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1415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2026-08-14T20:14:45.1890000Z</dcterms:created>
  <dcterms:modified xsi:type="dcterms:W3CDTF">2026-08-14T20:14:45.1890000Z</dcterms:modified>
</coreProperties>
</file>