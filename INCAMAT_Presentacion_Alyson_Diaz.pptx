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9d87fa9c834fd1" /><Relationship Type="http://schemas.openxmlformats.org/officeDocument/2006/relationships/extended-properties" Target="/docProps/app.xml" Id="R057c55414f274359" /><Relationship Type="http://schemas.openxmlformats.org/officeDocument/2006/relationships/officeDocument" Target="/ppt/presentation.xml" Id="R5a920dfbb96c4f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46654e165742d9"/>
  </p:sldMasterIdLst>
  <p:notesMasterIdLst>
    <p:notesMasterId xmlns:r="http://schemas.openxmlformats.org/officeDocument/2006/relationships" r:id="Reab0cf280f9440dc"/>
  </p:notesMasterIdLst>
  <p:sldIdLst>
    <p:sldId xmlns:r="http://schemas.openxmlformats.org/officeDocument/2006/relationships" id="256" r:id="R872a0058a14c4f20"/>
    <p:sldId xmlns:r="http://schemas.openxmlformats.org/officeDocument/2006/relationships" id="257" r:id="R93338ccd18da41f8"/>
    <p:sldId xmlns:r="http://schemas.openxmlformats.org/officeDocument/2006/relationships" id="258" r:id="R7a5fcc9bfa974675"/>
    <p:sldId xmlns:r="http://schemas.openxmlformats.org/officeDocument/2006/relationships" id="259" r:id="R3b15f4789db74e2f"/>
    <p:sldId xmlns:r="http://schemas.openxmlformats.org/officeDocument/2006/relationships" id="260" r:id="R4d51225908d6408c"/>
    <p:sldId xmlns:r="http://schemas.openxmlformats.org/officeDocument/2006/relationships" id="261" r:id="R985c4468df2949cf"/>
    <p:sldId xmlns:r="http://schemas.openxmlformats.org/officeDocument/2006/relationships" id="262" r:id="Rdb22e0c60e924198"/>
    <p:sldId xmlns:r="http://schemas.openxmlformats.org/officeDocument/2006/relationships" id="263" r:id="R5f34abbead90471c"/>
    <p:sldId xmlns:r="http://schemas.openxmlformats.org/officeDocument/2006/relationships" id="264" r:id="Re01dbc6fc1d147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81adbd6e6c4567" /><Relationship Type="http://schemas.openxmlformats.org/officeDocument/2006/relationships/slideMaster" Target="/ppt/slideMasters/slideMaster1.xml" Id="R5746654e165742d9" /><Relationship Type="http://schemas.openxmlformats.org/officeDocument/2006/relationships/notesMaster" Target="/ppt/notesMasters/notesMaster1.xml" Id="Reab0cf280f9440dc" /><Relationship Type="http://schemas.openxmlformats.org/officeDocument/2006/relationships/presProps" Target="/ppt/presProps.xml" Id="R5b24255ea9994585" /><Relationship Type="http://schemas.openxmlformats.org/officeDocument/2006/relationships/tableStyles" Target="/ppt/tableStyles.xml" Id="R75f8423efe2a4fde" /><Relationship Type="http://schemas.openxmlformats.org/officeDocument/2006/relationships/slide" Target="/ppt/slides/slide1.xml" Id="R872a0058a14c4f20" /><Relationship Type="http://schemas.openxmlformats.org/officeDocument/2006/relationships/slide" Target="/ppt/slides/slide2.xml" Id="R93338ccd18da41f8" /><Relationship Type="http://schemas.openxmlformats.org/officeDocument/2006/relationships/slide" Target="/ppt/slides/slide3.xml" Id="R7a5fcc9bfa974675" /><Relationship Type="http://schemas.openxmlformats.org/officeDocument/2006/relationships/slide" Target="/ppt/slides/slide4.xml" Id="R3b15f4789db74e2f" /><Relationship Type="http://schemas.openxmlformats.org/officeDocument/2006/relationships/slide" Target="/ppt/slides/slide5.xml" Id="R4d51225908d6408c" /><Relationship Type="http://schemas.openxmlformats.org/officeDocument/2006/relationships/slide" Target="/ppt/slides/slide6.xml" Id="R985c4468df2949cf" /><Relationship Type="http://schemas.openxmlformats.org/officeDocument/2006/relationships/slide" Target="/ppt/slides/slide7.xml" Id="Rdb22e0c60e924198" /><Relationship Type="http://schemas.openxmlformats.org/officeDocument/2006/relationships/slide" Target="/ppt/slides/slide8.xml" Id="R5f34abbead90471c" /><Relationship Type="http://schemas.openxmlformats.org/officeDocument/2006/relationships/slide" Target="/ppt/slides/slide9.xml" Id="Re01dbc6fc1d1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86c6130e2b47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e76ee2a12a45cf" /><Relationship Type="http://schemas.openxmlformats.org/officeDocument/2006/relationships/notesMaster" Target="/ppt/notesMasters/notesMaster1.xml" Id="R250681446fe54a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b5e006a1864867" /><Relationship Type="http://schemas.openxmlformats.org/officeDocument/2006/relationships/notesMaster" Target="/ppt/notesMasters/notesMaster1.xml" Id="Rbd98dbc950504b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b2679608cb41f2" /><Relationship Type="http://schemas.openxmlformats.org/officeDocument/2006/relationships/notesMaster" Target="/ppt/notesMasters/notesMaster1.xml" Id="Rda39b98d6b2a4f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e76d0fe9e2457c" /><Relationship Type="http://schemas.openxmlformats.org/officeDocument/2006/relationships/notesMaster" Target="/ppt/notesMasters/notesMaster1.xml" Id="R0f56bd61a3604a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7bdcb990a49b0" /><Relationship Type="http://schemas.openxmlformats.org/officeDocument/2006/relationships/notesMaster" Target="/ppt/notesMasters/notesMaster1.xml" Id="R0f1fbb4b976c47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cd4e498bf4e1d" /><Relationship Type="http://schemas.openxmlformats.org/officeDocument/2006/relationships/notesMaster" Target="/ppt/notesMasters/notesMaster1.xml" Id="R29b39d558dbf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1654fb643249fe" /><Relationship Type="http://schemas.openxmlformats.org/officeDocument/2006/relationships/notesMaster" Target="/ppt/notesMasters/notesMaster1.xml" Id="R1a35406b179d4e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86f0e14d48458a" /><Relationship Type="http://schemas.openxmlformats.org/officeDocument/2006/relationships/notesMaster" Target="/ppt/notesMasters/notesMaster1.xml" Id="Rf954b07799a145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222c77effb4616" /><Relationship Type="http://schemas.openxmlformats.org/officeDocument/2006/relationships/notesMaster" Target="/ppt/notesMasters/notesMaster1.xml" Id="R8633a2a227d940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da192a2f54d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655dbb4bda4f53" /><Relationship Type="http://schemas.openxmlformats.org/officeDocument/2006/relationships/slideLayout" Target="/ppt/slideLayouts/slideLayout1.xml" Id="Re7f91c89f37246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f91c89f37246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e464fd4594d7a" /><Relationship Type="http://schemas.openxmlformats.org/officeDocument/2006/relationships/notesSlide" Target="/ppt/notesSlides/notesSlide1.xml" Id="Ref7365eebce841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601aa6feb4f0a" /><Relationship Type="http://schemas.openxmlformats.org/officeDocument/2006/relationships/notesSlide" Target="/ppt/notesSlides/notesSlide2.xml" Id="Reaa76a7141e349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f5ca3a964832" /><Relationship Type="http://schemas.openxmlformats.org/officeDocument/2006/relationships/notesSlide" Target="/ppt/notesSlides/notesSlide3.xml" Id="R512c5e4d600e46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8197160e445d9" /><Relationship Type="http://schemas.openxmlformats.org/officeDocument/2006/relationships/notesSlide" Target="/ppt/notesSlides/notesSlide4.xml" Id="R03ebced9a6dc4f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c1826e6cf417e" /><Relationship Type="http://schemas.openxmlformats.org/officeDocument/2006/relationships/notesSlide" Target="/ppt/notesSlides/notesSlide5.xml" Id="Ra6adb5d30ea74a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6ab4381d74c56" /><Relationship Type="http://schemas.openxmlformats.org/officeDocument/2006/relationships/notesSlide" Target="/ppt/notesSlides/notesSlide6.xml" Id="R0910f851b6a947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9572d03734183" /><Relationship Type="http://schemas.openxmlformats.org/officeDocument/2006/relationships/notesSlide" Target="/ppt/notesSlides/notesSlide7.xml" Id="Rfd4b3528dd7c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b63b3f544403d" /><Relationship Type="http://schemas.openxmlformats.org/officeDocument/2006/relationships/notesSlide" Target="/ppt/notesSlides/notesSlide8.xml" Id="Rbdbfbbf82f274c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34a34aa4e4972" /><Relationship Type="http://schemas.openxmlformats.org/officeDocument/2006/relationships/notesSlide" Target="/ppt/notesSlides/notesSlide9.xml" Id="Rf4108c2623cb4f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C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2C3F2-E739-4166-B06C-7F809FB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" cy="506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2E5EA-D1C6-4286-B7DA-D6689710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76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INCAMAT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19B1A-725F-4E79-8399-D3DD5C9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6192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6EBF8"/>
                </a:solidFill>
              </a:defRPr>
            </a:pPr>
            <a:r>
              <a:rPr sz="2250" b="0">
                <a:solidFill>
                  <a:srgbClr val="D6EBF8"/>
                </a:solidFill>
              </a:rPr>
              <a:t>Sistema inteligente de gestión de activos y mantenimiento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3C976-4659-445F-A580-6869A213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B6E8"/>
                </a:solidFill>
              </a:defRPr>
            </a:pPr>
            <a:r>
              <a:rPr sz="1350" b="1">
                <a:solidFill>
                  <a:srgbClr val="42B6E8"/>
                </a:solidFill>
              </a:rPr>
              <a:t>Proyecto de experiencia formativa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04C72-F904-410A-A897-4C4DB2CB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Alyson Noely Diaz Mamani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B35C3-1F58-4207-9532-F38243F2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6EBF8"/>
                </a:solidFill>
              </a:defRPr>
            </a:pPr>
            <a:r>
              <a:rPr sz="1500" b="0">
                <a:solidFill>
                  <a:srgbClr val="D6EBF8"/>
                </a:solidFill>
              </a:rPr>
              <a:t>Área de Mantenimiento · Incalpaca TPX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60532-CC5B-40E4-8743-8671612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24000"/>
            <a:ext cx="3238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73A61"/>
          </a:solidFill>
          <a:ln xmlns:a="http://schemas.openxmlformats.org/drawingml/2006/main" w="9525">
            <a:solidFill>
              <a:srgbClr val="3560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30AFC-ADF8-4C0D-B3DE-85EB29D1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621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703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F8447-0999-4FFC-BCA7-E65D4E3E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36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BF8"/>
                </a:solidFill>
              </a:defRPr>
            </a:pPr>
            <a:r>
              <a:rPr sz="1350" b="0">
                <a:solidFill>
                  <a:srgbClr val="D6EBF8"/>
                </a:solidFill>
              </a:rPr>
              <a:t>máquinas registradas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0778B-5000-42EB-B4AD-B45F164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3,043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3875D-90C4-4A8F-BBAA-89EFDD65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04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BF8"/>
                </a:solidFill>
              </a:defRPr>
            </a:pPr>
            <a:r>
              <a:rPr sz="1350" b="0">
                <a:solidFill>
                  <a:srgbClr val="D6EBF8"/>
                </a:solidFill>
              </a:rPr>
              <a:t>repuestos organizados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13777-BCE4-4098-96C1-B9426CD9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1,186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8978B-A8B5-466A-BC7F-A2A95F67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434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BF8"/>
                </a:solidFill>
              </a:defRPr>
            </a:pPr>
            <a:r>
              <a:rPr sz="1350" b="0">
                <a:solidFill>
                  <a:srgbClr val="D6EBF8"/>
                </a:solidFill>
              </a:rPr>
              <a:t>mantenimientos históricos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B70A0-C2DC-4FA3-A832-109F2BF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81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BF8"/>
                </a:solidFill>
              </a:defRPr>
            </a:pPr>
            <a:r>
              <a:rPr sz="1200" b="0">
                <a:solidFill>
                  <a:srgbClr val="D6EBF8"/>
                </a:solidFill>
              </a:rPr>
              <a:t>Agosto 2026</a:t>
            </a:r>
          </a:p>
        </p:txBody>
      </p:sp>
    </p:spTree>
    <p:extLst>
      <p:ext uri="{BB962C8B-B14F-4D97-AF65-F5344CB8AC3E}">
        <p14:creationId xmlns:p14="http://schemas.microsoft.com/office/powerpoint/2010/main" val="1277103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C3DF8-B19D-4085-9D6A-1C2A7088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SITUACIÓN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011F0-BEAA-467F-9B91-C855E93C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El mantenimiento requiere información trazable y centralizada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B4B00-88F6-4D96-B333-6664A84D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La operación dependía de archivos dispersos y de la consulta manual de información.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36A7A-18F6-4CE0-8E6A-FAD0DB96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451F4-3C1F-46D9-B0C0-39208AC4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48061-DFCB-4A2D-99A4-4A8163A5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2F0BD-6491-4764-A557-EA1BA14C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Ubicación de activos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73760-4D95-4853-9CD3-153C62C2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38C"/>
                </a:solidFill>
              </a:defRPr>
            </a:pPr>
            <a:r>
              <a:rPr sz="1125" b="0">
                <a:solidFill>
                  <a:srgbClr val="61738C"/>
                </a:solidFill>
              </a:rPr>
              <a:t>Relacionar planta, área, máquina y ficha técnica.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AC91D-9405-445B-92D9-CC74D661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584CF-95E4-4B1E-9D4B-576961C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6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419AF-D559-4BD5-9AAF-5926FF99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Atención de incidencias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E1BF5-6657-4E67-BC7C-69B72E1B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38C"/>
                </a:solidFill>
              </a:defRPr>
            </a:pPr>
            <a:r>
              <a:rPr sz="1125" b="0">
                <a:solidFill>
                  <a:srgbClr val="61738C"/>
                </a:solidFill>
              </a:rPr>
              <a:t>Registrar evidencia, responsable, hora de inicio y cierre.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F57AA-B68F-4D9E-AACE-B38FE32B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9FB1A-BB48-4877-A233-BDE0F186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2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EDE5-2D65-4CFF-B023-81186432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Control de repuestos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72574-8E1D-4270-B082-50925725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38C"/>
                </a:solidFill>
              </a:defRPr>
            </a:pPr>
            <a:r>
              <a:rPr sz="1125" b="0">
                <a:solidFill>
                  <a:srgbClr val="61738C"/>
                </a:solidFill>
              </a:rPr>
              <a:t>Clasificar familia, criticidad, stock y solicitudes por área.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42D7D-87F4-4707-95D4-CB6A24F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28850"/>
            <a:ext cx="51625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C9E6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A52A6-7B72-421B-A655-4A3C749C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C"/>
                </a:solidFill>
              </a:defRPr>
            </a:pPr>
            <a:r>
              <a:rPr sz="1950" b="1">
                <a:solidFill>
                  <a:srgbClr val="102A4C"/>
                </a:solidFill>
              </a:rPr>
              <a:t>Propósito de INCAMAT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CFB51-2EAC-4C1F-857A-3D2E770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242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38C"/>
                </a:solidFill>
              </a:defRPr>
            </a:pPr>
            <a:r>
              <a:rPr sz="1650" b="0">
                <a:solidFill>
                  <a:srgbClr val="61738C"/>
                </a:solidFill>
              </a:rPr>
              <a:t>Unificar activos, órdenes, incidencias, repuestos e indicadores en una aplicación interna que permita consultar, registrar y dar seguimiento al trabajo de mantenimiento.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5DFB8-105C-4A41-91BC-8A0A176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91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D70"/>
                </a:solidFill>
              </a:defRPr>
            </a:pPr>
            <a:r>
              <a:rPr sz="1350" b="1">
                <a:solidFill>
                  <a:srgbClr val="2B9D70"/>
                </a:solidFill>
              </a:rPr>
              <a:t>Resultado esperado: decisiones con información visible y ordenada.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EEDC6-1C44-4848-B012-1F050BD8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6A7B7-540F-49AC-A31C-2269DC16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9394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54AB32-152D-4AB9-9AA5-702697EE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BASE DE INFORMACIÓN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DAE6C-4029-413D-A250-41D0916F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INCAMAT consolida los registros disponibles de planta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71B53-E0C3-425F-BAA7-A1418AA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Los datos cargados dan una base inicial para gestión y consulta.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402D4-5039-4459-BD53-089F9046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8EAC0-E56F-40A3-BE17-5C16A319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78281-34C1-4179-BC76-2ABBA2F9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10C25-4F12-466A-BFA1-C0A4E5EE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C"/>
                </a:solidFill>
              </a:defRPr>
            </a:pPr>
            <a:r>
              <a:rPr sz="2850" b="1">
                <a:solidFill>
                  <a:srgbClr val="102A4C"/>
                </a:solidFill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7CEFB-6AED-435C-A35B-EF6598E5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áreas oficiales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B8877-7634-4C8F-A52D-DFBB942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67B1A-1170-457D-8592-D9C2B5F7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098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351667-C3E7-4150-83A4-FB2B3EFF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C"/>
                </a:solidFill>
              </a:defRPr>
            </a:pPr>
            <a:r>
              <a:rPr sz="2850" b="1">
                <a:solidFill>
                  <a:srgbClr val="102A4C"/>
                </a:solidFill>
              </a:rPr>
              <a:t>703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26D21-BDA3-4F3C-86F1-9C90156F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máquinas registradas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04C88-CB0E-420E-8ECF-55FDA05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E9F7F-3A7A-456A-958C-8024B6C9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2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43959-25B1-46BA-9D64-117B0D03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C"/>
                </a:solidFill>
              </a:defRPr>
            </a:pPr>
            <a:r>
              <a:rPr sz="2850" b="1">
                <a:solidFill>
                  <a:srgbClr val="102A4C"/>
                </a:solidFill>
              </a:rPr>
              <a:t>3,043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81BB2-814B-42C0-A5C3-3042E52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repuestos catalogados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92E6B-6FF8-49DF-8C64-B754AA19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381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15B6F-3A28-41F8-8B9E-8040214D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2381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64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681AC-5DB6-4282-B6E6-08AC1BBB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C"/>
                </a:solidFill>
              </a:defRPr>
            </a:pPr>
            <a:r>
              <a:rPr sz="2850" b="1">
                <a:solidFill>
                  <a:srgbClr val="102A4C"/>
                </a:solidFill>
              </a:rPr>
              <a:t>1,186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76C8F-1E76-43FF-BC39-966A5BB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registros históricos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43809-4F45-41BF-802E-98E1869C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03AB9-52A8-4211-BE42-73DBC6C5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Relación de información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68D7C-91DC-4D0A-8EFB-FA365C39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958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9C7"/>
                </a:solidFill>
              </a:defRPr>
            </a:pPr>
            <a:r>
              <a:rPr sz="1350" b="1">
                <a:solidFill>
                  <a:srgbClr val="1689C7"/>
                </a:solidFill>
              </a:rPr>
              <a:t>Área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29915-5FDB-42D5-9323-B5B3EC8A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958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1738C"/>
                </a:solidFill>
              </a:defRPr>
            </a:pPr>
            <a:r>
              <a:rPr sz="1650" b="1">
                <a:solidFill>
                  <a:srgbClr val="61738C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2BBA1-B2CD-4E15-AF9A-0B48EE9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958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9C7"/>
                </a:solidFill>
              </a:defRPr>
            </a:pPr>
            <a:r>
              <a:rPr sz="1350" b="1">
                <a:solidFill>
                  <a:srgbClr val="1689C7"/>
                </a:solidFill>
              </a:rPr>
              <a:t>Máquina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6F2698-AB8F-496C-9C53-93A4DA1E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958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1738C"/>
                </a:solidFill>
              </a:defRPr>
            </a:pPr>
            <a:r>
              <a:rPr sz="1650" b="1">
                <a:solidFill>
                  <a:srgbClr val="61738C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BB1F4-B76D-4FAA-8B90-E7C24B19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9582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9C7"/>
                </a:solidFill>
              </a:defRPr>
            </a:pPr>
            <a:r>
              <a:rPr sz="1350" b="1">
                <a:solidFill>
                  <a:srgbClr val="1689C7"/>
                </a:solidFill>
              </a:rPr>
              <a:t>Orden / incidencia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51B48-EE16-4589-AFC3-02097372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1738C"/>
                </a:solidFill>
              </a:defRPr>
            </a:pPr>
            <a:r>
              <a:rPr sz="1650" b="1">
                <a:solidFill>
                  <a:srgbClr val="61738C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11A4A-D18B-463F-85B1-6056192C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958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9C7"/>
                </a:solidFill>
              </a:defRPr>
            </a:pPr>
            <a:r>
              <a:rPr sz="1350" b="1">
                <a:solidFill>
                  <a:srgbClr val="1689C7"/>
                </a:solidFill>
              </a:rPr>
              <a:t>Repuesto / historial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F3614-CE11-4D21-9DCD-81E8A19E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Cada registro se conserva asociado a su contexto operativo.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B71EF-E6B3-4D2D-944F-EF221F4A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EA278-BE1A-4B6C-820B-C1444B77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17253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50DF5-B7DC-4592-9638-13E3EDB7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SOLUCIÓN IMPLEMENTADA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2E98D-1F70-4187-961F-1B355F46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Una sola aplicación para los procesos principales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906C-BAF4-4C87-8A60-202E6F4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Los módulos se conectan para evitar registros aislados.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F96D2-EFF3-428D-AEA2-B4ED5BB7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F2C2A-32B3-4C8D-958A-AEDD5C7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76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4BA9C-1CCD-4DE6-B820-F503CDBA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D58F7-B1D5-44B3-BBCE-810C09A2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C"/>
                </a:solidFill>
              </a:defRPr>
            </a:pPr>
            <a:r>
              <a:rPr sz="1575" b="1">
                <a:solidFill>
                  <a:srgbClr val="102A4C"/>
                </a:solidFill>
              </a:rPr>
              <a:t>Áreas y máquinas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93AC6-AFF8-415A-A8E7-CE20A05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Estructura de planta, fichas, QR y estado.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4D1DD-8458-4D3D-A77D-6C5929E0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276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163CF-56BF-449E-9C74-8E72AF0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6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ACBC0-AAD0-4E35-80D6-B1987FB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6697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C"/>
                </a:solidFill>
              </a:defRPr>
            </a:pPr>
            <a:r>
              <a:rPr sz="1575" b="1">
                <a:solidFill>
                  <a:srgbClr val="102A4C"/>
                </a:solidFill>
              </a:rPr>
              <a:t>Reportes de planta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EDF5F-204F-47DA-9BDB-5E82C361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Incidencias con prioridad y evidencia.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89E3B-99A3-4374-BE8B-D59D2120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276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A5DA6-F98B-4C89-95B4-F275FCD2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9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ED2BC-4045-4841-BC9E-74C50DF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6697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C"/>
                </a:solidFill>
              </a:defRPr>
            </a:pPr>
            <a:r>
              <a:rPr sz="1575" b="1">
                <a:solidFill>
                  <a:srgbClr val="102A4C"/>
                </a:solidFill>
              </a:rPr>
              <a:t>Órdenes y planificación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1F816-E557-4177-8769-08843067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Preventivo, autónomo, predictivo y proactivo.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0DD5D-9CCB-43A9-A998-FA9D3FC6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76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CF219-4F42-42A3-A80D-724F6A4C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2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678B9-6528-489D-AC58-904EE823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C"/>
                </a:solidFill>
              </a:defRPr>
            </a:pPr>
            <a:r>
              <a:rPr sz="1575" b="1">
                <a:solidFill>
                  <a:srgbClr val="102A4C"/>
                </a:solidFill>
              </a:rPr>
              <a:t>Repuestos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AA30F-DC85-4A19-8ECF-F19520BB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Familia técnica, criticidad, stock y solicitudes.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D82B9-2D23-49D5-91D5-CE76BAAA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276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151D7-76D9-40D7-98B3-63792DBE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64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48342-F608-4D28-8BE3-0269E075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957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C"/>
                </a:solidFill>
              </a:defRPr>
            </a:pPr>
            <a:r>
              <a:rPr sz="1575" b="1">
                <a:solidFill>
                  <a:srgbClr val="102A4C"/>
                </a:solidFill>
              </a:rPr>
              <a:t>Importaciones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72276-C1E4-4B44-B395-72CEBC14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291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Validación, detección de duplicados e historial.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350A0B-DF79-4D24-A4BB-57BBE179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276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9254BD-E60D-460C-8416-4C3D7488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276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ED8598-D1E9-40F0-84C3-C0372A5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957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C"/>
                </a:solidFill>
              </a:defRPr>
            </a:pPr>
            <a:r>
              <a:rPr sz="1575" b="1">
                <a:solidFill>
                  <a:srgbClr val="102A4C"/>
                </a:solidFill>
              </a:rPr>
              <a:t>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2F3385-FE07-4432-BA07-BE1C6A94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278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KPIs, tipos de mantenimiento y alertas.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93DDF-7A0D-4B00-9A7C-493CD9A4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0FA29-92EB-48CC-8152-0BFC3379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2057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D2BFFC-BDA8-4902-BC03-AD0D4CB5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FLUJO OPERATIVO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51951-BB2B-4728-84BE-CAA74EC1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Del reporte de planta al cierre de la orden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D7BBC-6E83-4B2B-A0C4-BF31A6CA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La información acompaña a la máquina durante todo el proceso.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DFB85-8CB7-4CDE-AC20-80A410E5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0660B-DC14-4D9B-998E-CBFE17F7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241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E2C44-EFBF-4DAC-B1DA-487C83ED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35711-6F91-4498-BD3E-2857E115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F44C3-562E-479A-B1BB-E6526FD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Operario reporta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E48C7-50A8-4236-9148-7AF45849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QR, prioridad, descripción y evidencia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3E7E1-B278-44C9-A3A9-C84CE3D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9C7"/>
                </a:solidFill>
              </a:defRPr>
            </a:pPr>
            <a:r>
              <a:rPr sz="2100" b="1">
                <a:solidFill>
                  <a:srgbClr val="1689C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DC899-16B9-4BA3-BA74-825149B6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23241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8AA40-4FDC-4B37-BED7-8649A24E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681EF-D216-48C4-9A29-B3A6F8C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EF192-FB93-4837-B934-6A09470C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Técnico inicia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B2EE5-1457-4881-9F56-CEF6C85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Hora de inicio y diagnóstico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54ECB-53A7-4AB2-82C2-F3021479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9C7"/>
                </a:solidFill>
              </a:defRPr>
            </a:pPr>
            <a:r>
              <a:rPr sz="2100" b="1">
                <a:solidFill>
                  <a:srgbClr val="1689C7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17D2D-672D-476C-A3BC-692FCE53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47950"/>
            <a:ext cx="23241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CAB64-88C2-4700-82AE-BF4288A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C148D-ECED-4A0D-8DC8-F73E5F27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23835-9CFA-49D8-B77A-508A1C3D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Atención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DCCC6-39B5-4DFE-8313-8AF6CE5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Trabajo realizado y repuestos utilizados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AE5096-248D-41BC-876B-1373B9B3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89C7"/>
                </a:solidFill>
              </a:defRPr>
            </a:pPr>
            <a:r>
              <a:rPr sz="2100" b="1">
                <a:solidFill>
                  <a:srgbClr val="1689C7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D6DA0-5B5D-4A81-BE52-98C7DEB3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3241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82EE74-ECF3-411D-B804-EE9CBB7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3481A-8A7B-4759-849D-E0AD2B4E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24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07811-9917-43E6-96C4-CC5B2413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480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Cierre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6018A4-DD99-48D1-92B9-3AA9D1CE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Prueba final, evidencia y hora de finalización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C5C4D-48DA-4350-8815-B75E11E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9D70"/>
                </a:solidFill>
              </a:defRPr>
            </a:pPr>
            <a:r>
              <a:rPr sz="1350" b="1">
                <a:solidFill>
                  <a:srgbClr val="2B9D70"/>
                </a:solidFill>
              </a:rPr>
              <a:t>El estado de la máquina se actualiza según el avance de la orden.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9ACEB-CA27-4D68-B05F-737C2837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4B62B-B0DC-4BE5-8FFD-96E67877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7320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7F108-F79D-454D-BAAC-D451734A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AE8E3-2811-4493-AE38-55432BA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La bandeja ya cuenta con órdenes de ejemplo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5C2D3-0EAB-4F00-8AAD-35858363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Se prepararon casos para mostrar los cuatro tipos de mantenimiento y una incidencia.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0BB19-E8C7-45E4-90B9-7BF21FB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53EA9-DA98-4D8C-A6C7-DC0447A5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863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F1F32-28F6-459A-9F71-7DA3CB4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D16F-AE8F-4153-9679-6389FAA3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Preventivo planificado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50B61-BCD8-421F-B777-B3C8F424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BATAN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4431E-5C0E-4725-BFEA-03C3782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0985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360C-BBD2-4091-9194-1278D472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6765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9C7"/>
                </a:solidFill>
              </a:defRPr>
            </a:pPr>
            <a:r>
              <a:rPr sz="1125" b="1">
                <a:solidFill>
                  <a:srgbClr val="1689C7"/>
                </a:solidFill>
              </a:rPr>
              <a:t>Programado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4E993-A1DB-4E10-BA3E-63A6CDF0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50863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FA308-51CA-4610-8BD1-D6AB5D2D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9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99C59-2B90-43F4-9EA4-3BF53C14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Autónomo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9F2B5A-BCA5-4AA7-B1EA-EA263194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BATAN 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2E2952-4914-4A8D-9771-93EDE1F9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985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BE6DC-E033-45C1-B693-4853EFB3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7652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9D70"/>
                </a:solidFill>
              </a:defRPr>
            </a:pPr>
            <a:r>
              <a:rPr sz="1125" b="1">
                <a:solidFill>
                  <a:srgbClr val="2B9D70"/>
                </a:solidFill>
              </a:rPr>
              <a:t>Programado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E13BA-61FE-4C18-BF86-F8700EBE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863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046BF-5EBD-4EEE-96B6-DEBD0677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64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BE257-7830-44E1-8529-25754B6A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Predictivo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430C3-4462-497D-9705-3012DBC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BATAN 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69CA9-EEBF-4253-AA90-3B132CA0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3860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C7A61-B30B-4BD0-AE66-3E990DB6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052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64B9"/>
                </a:solidFill>
              </a:defRPr>
            </a:pPr>
            <a:r>
              <a:rPr sz="1125" b="1">
                <a:solidFill>
                  <a:srgbClr val="7D64B9"/>
                </a:solidFill>
              </a:rPr>
              <a:t>Programado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5B8A5-2632-42F2-8530-E5056BBD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50863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655A5-8C92-48E8-A517-E22EE228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76200" cy="1104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6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A0575-1AF8-4DD3-BC23-2DDF5C1F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C"/>
                </a:solidFill>
              </a:defRPr>
            </a:pPr>
            <a:r>
              <a:rPr sz="1500" b="1">
                <a:solidFill>
                  <a:srgbClr val="102A4C"/>
                </a:solidFill>
              </a:rPr>
              <a:t>Proactivo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ADCD7-3BAD-4DE3-A67D-03E6A6F9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CENTRÍFUGA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5EC093-62C9-4817-9E90-ACFCFF3F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3860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28E5E1-1251-4C7C-AB18-C7E049E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105275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E655B"/>
                </a:solidFill>
              </a:defRPr>
            </a:pPr>
            <a:r>
              <a:rPr sz="1125" b="1">
                <a:solidFill>
                  <a:srgbClr val="DE655B"/>
                </a:solidFill>
              </a:rPr>
              <a:t>Incidencia alta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A322F-20B1-45FC-A999-FD07A550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Estos ejemplos son demostrativos y se pueden eliminar o reemplazar desde la operación.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4890C-828E-4747-A775-508F1FE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1BE2B6-764C-44BE-8D1F-6194AD6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8878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F3F54-8098-4973-9B50-CBB250A9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CONTROL DE ACCESO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FFF90-69C4-4ADD-93F5-F699ED81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Cada perfil utiliza solo los módulos necesarios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B9D8C-F4B7-4CFF-ADA6-18B2DFEE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Los permisos reducen cambios no autorizados y ordenan responsabilidades.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C3C8F-D49A-41CD-BACE-87F59C13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06C62-D751-4102-B714-2B2D714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324100" cy="24003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D5AC3-6DC7-47EA-B07A-0B72ADC7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C"/>
                </a:solidFill>
              </a:defRPr>
            </a:pPr>
            <a:r>
              <a:rPr sz="1725" b="1">
                <a:solidFill>
                  <a:srgbClr val="102A4C"/>
                </a:solidFill>
              </a:rPr>
              <a:t>Operario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2C506-9339-4AEE-91E2-0E53C154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Reporta incidencias desde QR.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70BA4-C10E-4516-B514-2AF05722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13630-52CC-4B9F-821F-9BEAFEC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9C7"/>
                </a:solidFill>
              </a:defRPr>
            </a:pPr>
            <a:r>
              <a:rPr sz="1125" b="1">
                <a:solidFill>
                  <a:srgbClr val="1689C7"/>
                </a:solidFill>
              </a:rPr>
              <a:t>Reportes de planta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6A787-6A53-4ADB-BD4F-74EE72BC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2324100" cy="24003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3038E-BD32-4813-ACD7-57515D6E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C"/>
                </a:solidFill>
              </a:defRPr>
            </a:pPr>
            <a:r>
              <a:rPr sz="1725" b="1">
                <a:solidFill>
                  <a:srgbClr val="102A4C"/>
                </a:solidFill>
              </a:rPr>
              <a:t>Técnico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82B99-49C0-4791-A496-D2A83201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Atiende, inicia y cierra órdenes; solicita repuestos.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0E8EE-2030-491C-8594-869F3E69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624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15406-567F-49DA-BE09-B18C619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9C7"/>
                </a:solidFill>
              </a:defRPr>
            </a:pPr>
            <a:r>
              <a:rPr sz="1125" b="1">
                <a:solidFill>
                  <a:srgbClr val="1689C7"/>
                </a:solidFill>
              </a:rPr>
              <a:t>Órdenes y solicitudes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20903-1DDC-4FD9-A090-0BBEFA5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2324100" cy="24003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088BA-EDB5-4DDC-8231-141F961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C"/>
                </a:solidFill>
              </a:defRPr>
            </a:pPr>
            <a:r>
              <a:rPr sz="1725" b="1">
                <a:solidFill>
                  <a:srgbClr val="102A4C"/>
                </a:solidFill>
              </a:rPr>
              <a:t>Ingeniero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9332E-1E48-4281-9315-693CAD88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Planifica, consulta indicadores e importa información.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B628D-7FAE-4B8B-A9BE-B6D7DCBE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379F7-E351-4292-8904-10734CA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9C7"/>
                </a:solidFill>
              </a:defRPr>
            </a:pPr>
            <a:r>
              <a:rPr sz="1125" b="1">
                <a:solidFill>
                  <a:srgbClr val="1689C7"/>
                </a:solidFill>
              </a:rPr>
              <a:t>Planificación e importación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58B3A-6016-4796-A4C9-762A4376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324100" cy="24003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C2322-148F-4578-BC37-DC57427F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C"/>
                </a:solidFill>
              </a:defRPr>
            </a:pPr>
            <a:r>
              <a:rPr sz="1725" b="1">
                <a:solidFill>
                  <a:srgbClr val="102A4C"/>
                </a:solidFill>
              </a:rPr>
              <a:t>Administrador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1A346-14CB-415B-96EE-15D8F764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1885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38C"/>
                </a:solidFill>
              </a:defRPr>
            </a:pPr>
            <a:r>
              <a:rPr sz="1200" b="0">
                <a:solidFill>
                  <a:srgbClr val="61738C"/>
                </a:solidFill>
              </a:rPr>
              <a:t>Gestiona usuarios, permisos y registros.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27AEF-C91B-4458-B5F0-9695CB38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624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B2539-A4F0-4503-AAA1-DE7E0C09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9C7"/>
                </a:solidFill>
              </a:defRPr>
            </a:pPr>
            <a:r>
              <a:rPr sz="1125" b="1">
                <a:solidFill>
                  <a:srgbClr val="1689C7"/>
                </a:solidFill>
              </a:rPr>
              <a:t>Administración total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21042-4F82-4D8A-A34F-909D457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5337B-04D1-4940-8FA3-9186ACD9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1662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D4A13-8CB8-4037-A695-60311B34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9C7"/>
                </a:solidFill>
              </a:defRPr>
            </a:pPr>
            <a:r>
              <a:rPr sz="1050" b="1">
                <a:solidFill>
                  <a:srgbClr val="1689C7"/>
                </a:solidFill>
              </a:rPr>
              <a:t>SEGUIMIENTO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C4DAB-4BD1-4C1B-B44B-C4BC384C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C"/>
                </a:solidFill>
              </a:defRPr>
            </a:pPr>
            <a:r>
              <a:rPr sz="2700" b="1">
                <a:solidFill>
                  <a:srgbClr val="102A4C"/>
                </a:solidFill>
              </a:rPr>
              <a:t>El dashboard transforma registros en información útil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C744F-D557-4473-BBC7-A84C949F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38C"/>
                </a:solidFill>
              </a:defRPr>
            </a:pPr>
            <a:r>
              <a:rPr sz="1350" b="0">
                <a:solidFill>
                  <a:srgbClr val="61738C"/>
                </a:solidFill>
              </a:rPr>
              <a:t>Los indicadores se calculan con los datos que se registran en INCAMAT.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7087B-B993-4984-BBA5-4A6A6B62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BFFE4-D63E-4312-B303-9D85B530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48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7F1ED-3C99-4B21-815F-E66B54F4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9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6108F-4520-4042-99B9-9AE5F2C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Disponibilidad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46637-F1CA-454D-8CE8-7E6B7EFB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Máquinas operativas /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4E9FA-3890-4C7C-A238-6F6C94B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5048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877D6-A42C-44CA-929A-A4D4D54E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6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13C5C-F38E-4BC7-990D-08504296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193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MTTR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3241C-85B9-4CDA-A8D8-2A347DF5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813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Tiempo medio de resolución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13D2E-93CC-4009-B31D-DF3C2003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048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4BF86-D591-4B63-B09A-4B66AFE3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9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41643-08DD-4C1F-B20A-82357F26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Cumplimiento preventivo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89723-AE9D-4811-857F-B1CB061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Órdenes completadas / programadas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1C6EF-8A44-4F7C-BC7F-2CDF55E8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048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FC1BF-4209-4B29-8045-4A90C86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952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2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73900-4C90-49EB-ABE9-9EE00FC4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481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C"/>
                </a:solidFill>
              </a:defRPr>
            </a:pPr>
            <a:r>
              <a:rPr sz="1650" b="1">
                <a:solidFill>
                  <a:srgbClr val="102A4C"/>
                </a:solidFill>
              </a:rPr>
              <a:t>Stock verificado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EA441-110B-4586-AE46-4304A3E3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Inventario físico validado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411EA-23BF-4148-8CEB-5EE20BE3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38C"/>
                </a:solidFill>
              </a:defRPr>
            </a:pPr>
            <a:r>
              <a:rPr sz="1275" b="0">
                <a:solidFill>
                  <a:srgbClr val="61738C"/>
                </a:solidFill>
              </a:rPr>
              <a:t>Los valores se completan progresivamente al registrar órdenes, fallas, cierres y verificaciones de stock.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59AE8-2C4B-43A5-ADA8-1C053318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38C"/>
                </a:solidFill>
              </a:defRPr>
            </a:pPr>
            <a:r>
              <a:rPr sz="900" b="0">
                <a:solidFill>
                  <a:srgbClr val="61738C"/>
                </a:solidFill>
              </a:rPr>
              <a:t>INCAMAT · Gestión de activos y mantenimiento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5BA881-5608-43AD-A858-FD31BE44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1738C"/>
                </a:solidFill>
              </a:defRPr>
            </a:pPr>
            <a:r>
              <a:rPr sz="900" b="1">
                <a:solidFill>
                  <a:srgbClr val="61738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4900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C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2846A-8FCA-48D5-A5E1-E7746C2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INCAMAT deja una base operativa para gestionar activos y mantenimiento.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DE59C-8EDE-4AE9-AC6F-B89C2F0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BF8"/>
                </a:solidFill>
              </a:defRPr>
            </a:pPr>
            <a:r>
              <a:rPr sz="1800" b="0">
                <a:solidFill>
                  <a:srgbClr val="D6EBF8"/>
                </a:solidFill>
              </a:rPr>
              <a:t>La siguiente etapa es consolidar el uso diario, validar stocks y completar el historial con nuevos registros de operación.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B1479-DC55-444D-867A-25337DD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3F044-B25C-4D0F-BD6E-2C8F71C0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2B6E8"/>
                </a:solidFill>
              </a:defRPr>
            </a:pPr>
            <a:r>
              <a:rPr sz="1800" b="1">
                <a:solidFill>
                  <a:srgbClr val="42B6E8"/>
                </a:solidFill>
              </a:rPr>
              <a:t>Próximos pasos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456B5-D2C5-47C0-A6A0-C2BEE999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1. Capacitar a los usuarios por 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76749-EEF9-4350-9440-235A4EF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9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2. Cargar y validar información nueva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F14F1-F56F-455A-9075-360243F0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3. Revisar indicadores por área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0DF8B-B5F2-41E6-9A44-39781091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64A30-0BD0-43AB-BAAD-2BB1E57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6EBF8"/>
                </a:solidFill>
              </a:defRPr>
            </a:pPr>
            <a:r>
              <a:rPr sz="1200" b="0">
                <a:solidFill>
                  <a:srgbClr val="D6EBF8"/>
                </a:solidFill>
              </a:rPr>
              <a:t>Alyson Noely Diaz Mamani</a:t>
            </a:r>
          </a:p>
        </p:txBody>
      </p:sp>
    </p:spTree>
    <p:extLst>
      <p:ext uri="{BB962C8B-B14F-4D97-AF65-F5344CB8AC3E}">
        <p14:creationId xmlns:p14="http://schemas.microsoft.com/office/powerpoint/2010/main" val="1436909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2026-08-14T17:51:51.7890000Z</dcterms:created>
  <dcterms:modified xsi:type="dcterms:W3CDTF">2026-08-14T17:51:51.7890000Z</dcterms:modified>
</coreProperties>
</file>